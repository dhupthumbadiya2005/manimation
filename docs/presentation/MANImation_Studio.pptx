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33ac432-bf01-edf7-d3a0-421727c11cab}">
          <p14:sldIdLst>
            <p14:sldId id="256"/>
            <p14:sldId id="257"/>
            <p14:sldId id="258"/>
          </p14:sldIdLst>
        </p14:section>
        <p14:section name="Solution" id="{e45971c0-ca75-afa8-3433-1220b6629cce}">
          <p14:sldIdLst>
            <p14:sldId id="259"/>
            <p14:sldId id="260"/>
            <p14:sldId id="261"/>
            <p14:sldId id="262"/>
          </p14:sldIdLst>
        </p14:section>
        <p14:section name="Results" id="{aa4e56b0-3d14-c445-dc87-b120645411d7}">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j-lt"/>
              </a:defRPr>
            </a:pPr>
            <a:r>
              <a:rPr sz="1400" b="0" i="0" u="none" strike="noStrike">
                <a:solidFill>
                  <a:srgbClr val="1F2937"/>
                </a:solidFill>
                <a:latin typeface="+mj-lt"/>
              </a:rPr>
              <a:t>Where the money goes (USD, measured)</a:t>
            </a:r>
          </a:p>
        </c:rich>
      </c:tx>
      <c:layout/>
      <c:overlay val="0"/>
    </c:title>
    <c:autoTitleDeleted val="0"/>
    <c:plotArea>
      <c:layout/>
      <c:barChart>
        <c:barDir val="bar"/>
        <c:grouping val="clustered"/>
        <c:varyColors val="0"/>
        <c:ser>
          <c:idx val="0"/>
          <c:order val="0"/>
          <c:tx>
            <c:strRef>
              <c:f>Sheet1!$B$1</c:f>
              <c:strCache>
                <c:ptCount val="1"/>
                <c:pt idx="0">
                  <c:v>Cost (USD)</c:v>
                </c:pt>
              </c:strCache>
            </c:strRef>
          </c:tx>
          <c:spPr>
            <a:solidFill>
              <a:srgbClr val="1F6FA8"/>
            </a:solidFill>
            <a:effectLst/>
          </c:spPr>
          <c:invertIfNegative val="0"/>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cat>
            <c:multiLvlStrRef>
              <c:f>Sheet1!$A$2:$A$4</c:f>
              <c:multiLvlStrCache>
                <c:ptCount val="3"/>
                <c:lvl>
                  <c:pt idx="0">
                    <c:v>Director (plan)</c:v>
                  </c:pt>
                  <c:pt idx="1">
                    <c:v>Coder (2 scenes)</c:v>
                  </c:pt>
                  <c:pt idx="2">
                    <c:v>Fixer (1 repair)</c:v>
                  </c:pt>
                </c:lvl>
              </c:multiLvlStrCache>
            </c:multiLvlStrRef>
          </c:cat>
          <c:val>
            <c:numRef>
              <c:f>Sheet1!$B$2:$B$4</c:f>
              <c:numCache>
                <c:formatCode>General</c:formatCode>
                <c:ptCount val="3"/>
                <c:pt idx="0">
                  <c:v>0.027</c:v>
                </c:pt>
                <c:pt idx="1">
                  <c:v>0.046</c:v>
                </c:pt>
                <c:pt idx="2">
                  <c:v>0.015</c:v>
                </c:pt>
              </c:numCache>
            </c:numRef>
          </c:val>
        </c:ser>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j-lt"/>
              </a:defRPr>
            </a:pPr>
            <a:r>
              <a:rPr sz="1400" b="0" i="0" u="none" strike="noStrike">
                <a:solidFill>
                  <a:srgbClr val="1F2937"/>
                </a:solidFill>
                <a:latin typeface="+mj-lt"/>
              </a:rPr>
              <a:t>Voice pitch of each narration line (Hz, measured)</a:t>
            </a:r>
          </a:p>
        </c:rich>
      </c:tx>
      <c:layout/>
      <c:overlay val="0"/>
    </c:title>
    <c:autoTitleDeleted val="0"/>
    <c:plotArea>
      <c:layout/>
      <c:lineChart>
        <c:varyColors val="0"/>
        <c:ser>
          <c:idx val="0"/>
          <c:order val="0"/>
          <c:tx>
            <c:strRef>
              <c:f>Sheet1!$B$1</c:f>
              <c:strCache>
                <c:ptCount val="1"/>
                <c:pt idx="0">
                  <c:v>Separate requests (before)</c:v>
                </c:pt>
              </c:strCache>
            </c:strRef>
          </c:tx>
          <c:spPr>
            <a:solidFill>
              <a:srgbClr val="C2410C"/>
            </a:solidFill>
            <a:ln w="38100" cap="flat">
              <a:solidFill>
                <a:srgbClr val="C241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C2410C"/>
              </a:solidFill>
              <a:ln w="9525" cap="flat">
                <a:solidFill>
                  <a:srgbClr val="C2410C"/>
                </a:solidFill>
                <a:prstDash val="solid"/>
                <a:round/>
              </a:ln>
              <a:effectLst/>
            </c:spPr>
          </c:marker>
          <c:cat>
            <c:multiLvlStrRef>
              <c:f>Sheet1!$A$2:$A$7</c:f>
              <c:multiLvlStrCache>
                <c:ptCount val="6"/>
                <c:lvl>
                  <c:pt idx="0">
                    <c:v>Line 1</c:v>
                  </c:pt>
                  <c:pt idx="1">
                    <c:v>Line 2</c:v>
                  </c:pt>
                  <c:pt idx="2">
                    <c:v>Line 3</c:v>
                  </c:pt>
                  <c:pt idx="3">
                    <c:v>Line 4</c:v>
                  </c:pt>
                  <c:pt idx="4">
                    <c:v>Line 5</c:v>
                  </c:pt>
                  <c:pt idx="5">
                    <c:v>Line 6</c:v>
                  </c:pt>
                </c:lvl>
              </c:multiLvlStrCache>
            </c:multiLvlStrRef>
          </c:cat>
          <c:val>
            <c:numRef>
              <c:f>Sheet1!$B$2:$B$7</c:f>
              <c:numCache>
                <c:formatCode>General</c:formatCode>
                <c:ptCount val="6"/>
                <c:pt idx="0">
                  <c:v>211</c:v>
                </c:pt>
                <c:pt idx="1">
                  <c:v>222</c:v>
                </c:pt>
                <c:pt idx="2">
                  <c:v>231</c:v>
                </c:pt>
                <c:pt idx="3">
                  <c:v>174</c:v>
                </c:pt>
                <c:pt idx="4">
                  <c:v>202</c:v>
                </c:pt>
                <c:pt idx="5">
                  <c:v>194</c:v>
                </c:pt>
              </c:numCache>
            </c:numRef>
          </c:val>
          <c:smooth val="0"/>
        </c:ser>
        <c:ser>
          <c:idx val="1"/>
          <c:order val="1"/>
          <c:tx>
            <c:strRef>
              <c:f>Sheet1!$C$1</c:f>
              <c:strCache>
                <c:ptCount val="1"/>
                <c:pt idx="0">
                  <c:v>One session (now)</c:v>
                </c:pt>
              </c:strCache>
            </c:strRef>
          </c:tx>
          <c:spPr>
            <a:solidFill>
              <a:srgbClr val="1F6FA8"/>
            </a:solidFill>
            <a:ln w="38100" cap="flat">
              <a:solidFill>
                <a:srgbClr val="1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F6FA8"/>
              </a:solidFill>
              <a:ln w="9525" cap="flat">
                <a:solidFill>
                  <a:srgbClr val="1F6FA8"/>
                </a:solidFill>
                <a:prstDash val="solid"/>
                <a:round/>
              </a:ln>
              <a:effectLst/>
            </c:spPr>
          </c:marker>
          <c:cat>
            <c:multiLvlStrRef>
              <c:f>Sheet1!$A$2:$A$7</c:f>
              <c:multiLvlStrCache>
                <c:ptCount val="6"/>
                <c:lvl>
                  <c:pt idx="0">
                    <c:v>Line 1</c:v>
                  </c:pt>
                  <c:pt idx="1">
                    <c:v>Line 2</c:v>
                  </c:pt>
                  <c:pt idx="2">
                    <c:v>Line 3</c:v>
                  </c:pt>
                  <c:pt idx="3">
                    <c:v>Line 4</c:v>
                  </c:pt>
                  <c:pt idx="4">
                    <c:v>Line 5</c:v>
                  </c:pt>
                  <c:pt idx="5">
                    <c:v>Line 6</c:v>
                  </c:pt>
                </c:lvl>
              </c:multiLvlStrCache>
            </c:multiLvlStrRef>
          </c:cat>
          <c:val>
            <c:numRef>
              <c:f>Sheet1!$C$2:$C$7</c:f>
              <c:numCache>
                <c:formatCode>General</c:formatCode>
                <c:ptCount val="6"/>
                <c:pt idx="0">
                  <c:v>200</c:v>
                </c:pt>
                <c:pt idx="1">
                  <c:v>188</c:v>
                </c:pt>
                <c:pt idx="2">
                  <c:v>183</c:v>
                </c:pt>
                <c:pt idx="3">
                  <c:v>185</c:v>
                </c:pt>
                <c:pt idx="4">
                  <c:v>194</c:v>
                </c:pt>
                <c:pt idx="5">
                  <c:v>195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240"/>
          <c:min val="160"/>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4B55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breath: you type one sentence describing a math, physics or computer-science idea, and the system produces a narrated animation in the style of the 3Blue1Brown YouTube channel, together with the code that draws it. The image on the right is an actual frame the system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motivation. Visual explanations are powerful, which is why channels like 3Blue1Brown are so popular. But behind every one of those animations is a programmer: the animation is written as code, rendered, debugged and synchronised with narration. That is the barrier we wanted to remove for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Text-to-video models like Sora or Veo predict pixels. They are impressive for scenery, but for teaching they fail exactly where it matters: equations come out garbled, labels drift, and nothing checks that the math is right. You also cannot fix one detail without regenerating the whole clip. So instead of asking AI to draw pixels, we ask it to write code for Manim, the engine 3Blue1Brown uses. LaTeX typesets the equations, so they are always exact, and because the output is code, we can check it automatically and fix single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user experience in three steps. The important design choice is step two: the teacher stays in control. The AI proposes a storyboard, scene by scene and beat by beat, and the teacher can correct it before any code is written, which is also the cheapest moment to change your mind. The screenshot is the real review screen of our web app, built with React and FastAPI.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left to right. The Director plans the lesson. The teacher approves it. Then, for every scene, the Coder writes one Manim file; the Validator checks it in milliseconds; the Renderer draws a quick preview and measures the layout. If anything is wrong, the Fixer repairs it and the loop runs again. Once every scene is clean, the narration is recorded in a single voice session and the Assembler joins the scenes into the final video. Point out the colours: only the blue boxes cost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why can an AI produce accurate results here when it usually cannot? Because we never trust the first draft. First we prevent mistakes: the AI writes against our own small toolkit with fixed screen zones and colour roles, and sees tested examples and the real function signatures. Then a validator catches bad code in milliseconds and auto-fixes common errors, for free. Then the renderer measures the picture: is text off-screen, overlapping or too small? Only if something is still wrong do we pay for the Fixer.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real repair from our testing. The AI had written a title with math inside a plain-text object, so the video showed a literal caret: y = x^2. Our validator flagged it before rendering. The Fixer made one edit, swapping in LaTeX typesetting, and the next render came back clean. One AI call, 239 output tokens, one and a half cents, and everything else in the file stayed exactly as it was. Regenerating the scene would have cost more and risked breaking parts that already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numbers from a real run with Claude, not estimates. A complete two-scene video with narration cost about seven cents, and it took about a minute and a half from typing the prompt to the finished file: 18 seconds to plan, about half a minute to code and preview both scenes, and the rest for the final render. The chart shows where the money goes: writing the scenes is the largest part. By hand, the same video needs someone who can program Manim and LaTeX, and every change means editing code yourself. The list on the right is how we keep costs low: a budget cap, caching, free checks first, edit-only repairs, and checkpoints so nothing is paid for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detail that matters for real lessons. Our first version generated each narration line with a separate request, and the voice changed tone slightly between lines; in a video it sounds like a different speaker each scene. We measured the pitch of each line: with separate requests it jumped by up to 57 hertz. Now the whole script is spoken in one continuous session and split afterwards, and the spread fell from 18.7 to 6.0 hertz, about three times steadier. We also fixed a subtle sync bug, so audio and video now match within five hundredths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showing range: these frames are from scenes the system renders, covering algorithms, calculus, physics, geometry and linear algebra. Today the complete web application works end to end, produces narrated video in four colour themes, and runs offline in a demo mode or in a single Docker container. Next we want an AI critic that looks at rendered frames, a larger evaluation across fifteen topics, and a slide-clip mode so teachers can drop short animations straight into lectures. Then offer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035040" cy="137160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731520" y="3429000"/>
            <a:ext cx="5852160" cy="146304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MANImation Studio</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035040" cy="1371600"/>
          </a:xfrm>
          <a:prstGeom prst="rect">
            <a:avLst/>
          </a:prstGeom>
          <a:noFill/>
          <a:ln/>
        </p:spPr>
        <p:txBody>
          <a:bodyPr wrap="square" lIns="0" tIns="0" rIns="0" bIns="0" rtlCol="0" anchor="b"/>
          <a:lstStyle/>
          <a:p>
            <a:pPr algn="l" indent="0" marL="0">
              <a:buNone/>
            </a:pPr>
            <a:r>
              <a:rPr lang="en-US" sz="4400" b="1" dirty="0">
                <a:solidFill>
                  <a:schemeClr val="tx1"/>
                </a:solidFill>
              </a:rPr>
              <a:t>MANImation Studio</a:t>
            </a:r>
            <a:endParaRPr lang="en-US" sz="4400" dirty="0"/>
          </a:p>
        </p:txBody>
      </p:sp>
      <p:sp>
        <p:nvSpPr>
          <p:cNvPr id="3" name="Text 0"/>
          <p:cNvSpPr/>
          <p:nvPr>
            <p:ph idx="101" type="body" hasCustomPrompt="1"/>
          </p:nvPr>
        </p:nvSpPr>
        <p:spPr>
          <a:xfrm>
            <a:off x="731520" y="3429000"/>
            <a:ext cx="5852160" cy="1463040"/>
          </a:xfrm>
          <a:prstGeom prst="rect">
            <a:avLst/>
          </a:prstGeom>
          <a:noFill/>
          <a:ln/>
        </p:spPr>
        <p:txBody>
          <a:bodyPr wrap="square" lIns="0" tIns="0" rIns="0" bIns="0" rtlCol="0" anchor="t"/>
          <a:lstStyle/>
          <a:p>
            <a:pPr indent="0" marL="0">
              <a:buNone/>
            </a:pPr>
            <a:r>
              <a:rPr lang="en-US" sz="2000" dirty="0">
                <a:solidFill>
                  <a:schemeClr val="tx2"/>
                </a:solidFill>
              </a:rPr>
              <a:t>From one sentence to a narrated, 3Blue1Brown-style lesson video</a:t>
            </a:r>
            <a:endParaRPr lang="en-US" sz="2000" dirty="0"/>
          </a:p>
          <a:p>
            <a:pPr indent="0" marL="0">
              <a:buNone/>
            </a:pPr>
            <a:r>
              <a:rPr lang="en-US" sz="1000" dirty="0">
                <a:solidFill>
                  <a:schemeClr val="tx2"/>
                </a:solidFill>
              </a:rPr>
              <a:t> </a:t>
            </a:r>
            <a:endParaRPr lang="en-US" sz="2000" dirty="0"/>
          </a:p>
          <a:p>
            <a:pPr indent="0" marL="0">
              <a:buNone/>
            </a:pPr>
            <a:r>
              <a:rPr lang="en-US" sz="1600" dirty="0">
                <a:solidFill>
                  <a:schemeClr val="accent6"/>
                </a:solidFill>
              </a:rPr>
              <a:t>Multi-agent AI system  ·  Dhup Thumbadiya</a:t>
            </a:r>
            <a:endParaRPr lang="en-US" sz="2000" dirty="0"/>
          </a:p>
        </p:txBody>
      </p:sp>
      <p:pic>
        <p:nvPicPr>
          <p:cNvPr id="4" name="Hero frame" descr="/Users/dhup/Projects/manimation/docs/presentation/images/frame-pythagoras.png">    </p:cNvPr>
          <p:cNvPicPr>
            <a:picLocks noChangeAspect="1"/>
          </p:cNvPicPr>
          <p:nvPr/>
        </p:nvPicPr>
        <p:blipFill>
          <a:blip r:embed="rId1"/>
          <a:stretch>
            <a:fillRect/>
          </a:stretch>
        </p:blipFill>
        <p:spPr>
          <a:xfrm>
            <a:off x="7040880" y="2144129"/>
            <a:ext cx="4572000" cy="2569742"/>
          </a:xfrm>
          <a:prstGeom prst="rect">
            <a:avLst/>
          </a:prstGeom>
        </p:spPr>
      </p:pic>
      <p:sp>
        <p:nvSpPr>
          <p:cNvPr id="5" name="Text 2"/>
          <p:cNvSpPr txBox="1"/>
          <p:nvPr/>
        </p:nvSpPr>
        <p:spPr>
          <a:xfrm>
            <a:off x="7040880" y="4823599"/>
            <a:ext cx="4572000" cy="320040"/>
          </a:xfrm>
          <a:prstGeom prst="rect">
            <a:avLst/>
          </a:prstGeom>
          <a:noFill/>
          <a:ln/>
        </p:spPr>
        <p:txBody>
          <a:bodyPr wrap="square" lIns="0" tIns="0" rIns="0" bIns="0" rtlCol="0" anchor="t"/>
          <a:lstStyle/>
          <a:p>
            <a:pPr algn="ctr" indent="0" marL="0">
              <a:buNone/>
            </a:pPr>
            <a:r>
              <a:rPr lang="en-US" sz="1200" dirty="0">
                <a:solidFill>
                  <a:schemeClr val="tx2"/>
                </a:solidFill>
              </a:rPr>
              <a:t>A frame generated by the system: Pythagorean proof</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Good animations teach fast, but they are slow to make</a:t>
            </a:r>
            <a:endParaRPr lang="en-US" sz="3200" dirty="0"/>
          </a:p>
        </p:txBody>
      </p:sp>
      <p:sp>
        <p:nvSpPr>
          <p:cNvPr id="3" name="Text 1"/>
          <p:cNvSpPr txBox="1"/>
          <p:nvPr/>
        </p:nvSpPr>
        <p:spPr>
          <a:xfrm>
            <a:off x="548640" y="1417320"/>
            <a:ext cx="5120640" cy="3108960"/>
          </a:xfrm>
          <a:prstGeom prst="rect">
            <a:avLst/>
          </a:prstGeom>
          <a:noFill/>
          <a:ln/>
        </p:spPr>
        <p:txBody>
          <a:bodyPr wrap="square" lIns="0" tIns="0" rIns="0" bIns="0" rtlCol="0" anchor="t"/>
          <a:lstStyle/>
          <a:p>
            <a:pPr indent="0" marL="0">
              <a:buNone/>
            </a:pPr>
            <a:r>
              <a:rPr lang="en-US" sz="1800" dirty="0">
                <a:solidFill>
                  <a:schemeClr val="tx1"/>
                </a:solidFill>
              </a:rPr>
              <a:t>A moving picture can explain in seconds what a page of text cannot: a tangent line sliding along a curve, a grid bending under a matrix, a search narrowing down an array.</a:t>
            </a:r>
            <a:endParaRPr lang="en-US" sz="1800" dirty="0"/>
          </a:p>
          <a:p>
            <a:pPr indent="0" marL="0">
              <a:buNone/>
            </a:pPr>
            <a:r>
              <a:rPr lang="en-US" sz="1000" dirty="0">
                <a:solidFill>
                  <a:schemeClr val="tx1"/>
                </a:solidFill>
              </a:rPr>
              <a:t> </a:t>
            </a:r>
            <a:endParaRPr lang="en-US" sz="1800" dirty="0"/>
          </a:p>
          <a:p>
            <a:pPr indent="0" marL="0">
              <a:buNone/>
            </a:pPr>
            <a:r>
              <a:rPr lang="en-US" sz="1800" dirty="0">
                <a:solidFill>
                  <a:schemeClr val="tx1"/>
                </a:solidFill>
              </a:rPr>
              <a:t>Tools like Manim make these animations possible, but only for people who can program them. Most teachers never get past that barrier.</a:t>
            </a:r>
            <a:endParaRPr lang="en-US" sz="1800" dirty="0"/>
          </a:p>
        </p:txBody>
      </p:sp>
      <p:sp>
        <p:nvSpPr>
          <p:cNvPr id="4" name="Step 1 card"/>
          <p:cNvSpPr/>
          <p:nvPr/>
        </p:nvSpPr>
        <p:spPr>
          <a:xfrm>
            <a:off x="6217920" y="1417320"/>
            <a:ext cx="5394960" cy="1097280"/>
          </a:xfrm>
          <a:prstGeom prst="roundRect">
            <a:avLst>
              <a:gd name="adj" fmla="val 10000"/>
            </a:avLst>
          </a:prstGeom>
          <a:solidFill>
            <a:schemeClr val="bg2"/>
          </a:solidFill>
          <a:ln w="12700">
            <a:solidFill>
              <a:schemeClr val="bg2"/>
            </a:solidFill>
            <a:prstDash val="solid"/>
          </a:ln>
        </p:spPr>
      </p:sp>
      <p:sp>
        <p:nvSpPr>
          <p:cNvPr id="5" name="Step 1 number"/>
          <p:cNvSpPr/>
          <p:nvPr/>
        </p:nvSpPr>
        <p:spPr>
          <a:xfrm>
            <a:off x="6446520" y="169164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7223760" y="1618488"/>
            <a:ext cx="4206240" cy="365760"/>
          </a:xfrm>
          <a:prstGeom prst="rect">
            <a:avLst/>
          </a:prstGeom>
          <a:noFill/>
          <a:ln/>
        </p:spPr>
        <p:txBody>
          <a:bodyPr wrap="square" lIns="0" tIns="0" rIns="0" bIns="0" rtlCol="0" anchor="t"/>
          <a:lstStyle/>
          <a:p>
            <a:pPr indent="0" marL="0">
              <a:buNone/>
            </a:pPr>
            <a:r>
              <a:rPr lang="en-US" sz="1700" b="1" dirty="0">
                <a:solidFill>
                  <a:schemeClr val="tx1"/>
                </a:solidFill>
              </a:rPr>
              <a:t>Write the animation as Python code</a:t>
            </a:r>
            <a:endParaRPr lang="en-US" sz="1700" dirty="0"/>
          </a:p>
        </p:txBody>
      </p:sp>
      <p:sp>
        <p:nvSpPr>
          <p:cNvPr id="8" name="Text 6"/>
          <p:cNvSpPr txBox="1"/>
          <p:nvPr/>
        </p:nvSpPr>
        <p:spPr>
          <a:xfrm>
            <a:off x="7223760" y="1984248"/>
            <a:ext cx="4206240" cy="365760"/>
          </a:xfrm>
          <a:prstGeom prst="rect">
            <a:avLst/>
          </a:prstGeom>
          <a:noFill/>
          <a:ln/>
        </p:spPr>
        <p:txBody>
          <a:bodyPr wrap="square" lIns="0" tIns="0" rIns="0" bIns="0" rtlCol="0" anchor="t"/>
          <a:lstStyle/>
          <a:p>
            <a:pPr indent="0" marL="0">
              <a:buNone/>
            </a:pPr>
            <a:r>
              <a:rPr lang="en-US" sz="1400" dirty="0">
                <a:solidFill>
                  <a:schemeClr val="tx2"/>
                </a:solidFill>
              </a:rPr>
              <a:t>Manim, LaTeX, coordinates, timing</a:t>
            </a:r>
            <a:endParaRPr lang="en-US" sz="1400" dirty="0"/>
          </a:p>
        </p:txBody>
      </p:sp>
      <p:sp>
        <p:nvSpPr>
          <p:cNvPr id="9" name="Step 2 card"/>
          <p:cNvSpPr/>
          <p:nvPr/>
        </p:nvSpPr>
        <p:spPr>
          <a:xfrm>
            <a:off x="6217920" y="2743200"/>
            <a:ext cx="5394960" cy="1097280"/>
          </a:xfrm>
          <a:prstGeom prst="roundRect">
            <a:avLst>
              <a:gd name="adj" fmla="val 10000"/>
            </a:avLst>
          </a:prstGeom>
          <a:solidFill>
            <a:schemeClr val="bg2"/>
          </a:solidFill>
          <a:ln w="12700">
            <a:solidFill>
              <a:schemeClr val="bg2"/>
            </a:solidFill>
            <a:prstDash val="solid"/>
          </a:ln>
        </p:spPr>
      </p:sp>
      <p:sp>
        <p:nvSpPr>
          <p:cNvPr id="10" name="Step 2 number"/>
          <p:cNvSpPr/>
          <p:nvPr/>
        </p:nvSpPr>
        <p:spPr>
          <a:xfrm>
            <a:off x="6446520" y="301752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6446520" y="3017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7223760" y="2944368"/>
            <a:ext cx="4206240" cy="365760"/>
          </a:xfrm>
          <a:prstGeom prst="rect">
            <a:avLst/>
          </a:prstGeom>
          <a:noFill/>
          <a:ln/>
        </p:spPr>
        <p:txBody>
          <a:bodyPr wrap="square" lIns="0" tIns="0" rIns="0" bIns="0" rtlCol="0" anchor="t"/>
          <a:lstStyle/>
          <a:p>
            <a:pPr indent="0" marL="0">
              <a:buNone/>
            </a:pPr>
            <a:r>
              <a:rPr lang="en-US" sz="1700" b="1" dirty="0">
                <a:solidFill>
                  <a:schemeClr val="tx1"/>
                </a:solidFill>
              </a:rPr>
              <a:t>Render, find mistakes, fix by hand</a:t>
            </a:r>
            <a:endParaRPr lang="en-US" sz="1700" dirty="0"/>
          </a:p>
        </p:txBody>
      </p:sp>
      <p:sp>
        <p:nvSpPr>
          <p:cNvPr id="13" name="Text 11"/>
          <p:cNvSpPr txBox="1"/>
          <p:nvPr/>
        </p:nvSpPr>
        <p:spPr>
          <a:xfrm>
            <a:off x="7223760" y="3310128"/>
            <a:ext cx="4206240" cy="365760"/>
          </a:xfrm>
          <a:prstGeom prst="rect">
            <a:avLst/>
          </a:prstGeom>
          <a:noFill/>
          <a:ln/>
        </p:spPr>
        <p:txBody>
          <a:bodyPr wrap="square" lIns="0" tIns="0" rIns="0" bIns="0" rtlCol="0" anchor="t"/>
          <a:lstStyle/>
          <a:p>
            <a:pPr indent="0" marL="0">
              <a:buNone/>
            </a:pPr>
            <a:r>
              <a:rPr lang="en-US" sz="1400" dirty="0">
                <a:solidFill>
                  <a:schemeClr val="tx2"/>
                </a:solidFill>
              </a:rPr>
              <a:t>every error means reading tracebacks</a:t>
            </a:r>
            <a:endParaRPr lang="en-US" sz="1400" dirty="0"/>
          </a:p>
        </p:txBody>
      </p:sp>
      <p:sp>
        <p:nvSpPr>
          <p:cNvPr id="14" name="Step 3 card"/>
          <p:cNvSpPr/>
          <p:nvPr/>
        </p:nvSpPr>
        <p:spPr>
          <a:xfrm>
            <a:off x="6217920" y="4069080"/>
            <a:ext cx="5394960" cy="1097280"/>
          </a:xfrm>
          <a:prstGeom prst="roundRect">
            <a:avLst>
              <a:gd name="adj" fmla="val 10000"/>
            </a:avLst>
          </a:prstGeom>
          <a:solidFill>
            <a:schemeClr val="bg2"/>
          </a:solidFill>
          <a:ln w="12700">
            <a:solidFill>
              <a:schemeClr val="bg2"/>
            </a:solidFill>
            <a:prstDash val="solid"/>
          </a:ln>
        </p:spPr>
      </p:sp>
      <p:sp>
        <p:nvSpPr>
          <p:cNvPr id="15" name="Step 3 number"/>
          <p:cNvSpPr/>
          <p:nvPr/>
        </p:nvSpPr>
        <p:spPr>
          <a:xfrm>
            <a:off x="6446520" y="4343400"/>
            <a:ext cx="548640" cy="548640"/>
          </a:xfrm>
          <a:prstGeom prst="ellipse">
            <a:avLst/>
          </a:prstGeom>
          <a:solidFill>
            <a:schemeClr val="accent1"/>
          </a:solidFill>
          <a:ln w="12700">
            <a:solidFill>
              <a:schemeClr val="accent1"/>
            </a:solidFill>
            <a:prstDash val="solid"/>
          </a:ln>
        </p:spPr>
      </p:sp>
      <p:sp>
        <p:nvSpPr>
          <p:cNvPr id="16" name="Text 14"/>
          <p:cNvSpPr txBox="1"/>
          <p:nvPr/>
        </p:nvSpPr>
        <p:spPr>
          <a:xfrm>
            <a:off x="6446520" y="4343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5"/>
          <p:cNvSpPr txBox="1"/>
          <p:nvPr/>
        </p:nvSpPr>
        <p:spPr>
          <a:xfrm>
            <a:off x="7223760" y="4270248"/>
            <a:ext cx="4206240" cy="365760"/>
          </a:xfrm>
          <a:prstGeom prst="rect">
            <a:avLst/>
          </a:prstGeom>
          <a:noFill/>
          <a:ln/>
        </p:spPr>
        <p:txBody>
          <a:bodyPr wrap="square" lIns="0" tIns="0" rIns="0" bIns="0" rtlCol="0" anchor="t"/>
          <a:lstStyle/>
          <a:p>
            <a:pPr indent="0" marL="0">
              <a:buNone/>
            </a:pPr>
            <a:r>
              <a:rPr lang="en-US" sz="1700" b="1" dirty="0">
                <a:solidFill>
                  <a:schemeClr val="tx1"/>
                </a:solidFill>
              </a:rPr>
              <a:t>Record narration and sync it</a:t>
            </a:r>
            <a:endParaRPr lang="en-US" sz="1700" dirty="0"/>
          </a:p>
        </p:txBody>
      </p:sp>
      <p:sp>
        <p:nvSpPr>
          <p:cNvPr id="18" name="Text 16"/>
          <p:cNvSpPr txBox="1"/>
          <p:nvPr/>
        </p:nvSpPr>
        <p:spPr>
          <a:xfrm>
            <a:off x="7223760" y="4636008"/>
            <a:ext cx="4206240" cy="365760"/>
          </a:xfrm>
          <a:prstGeom prst="rect">
            <a:avLst/>
          </a:prstGeom>
          <a:noFill/>
          <a:ln/>
        </p:spPr>
        <p:txBody>
          <a:bodyPr wrap="square" lIns="0" tIns="0" rIns="0" bIns="0" rtlCol="0" anchor="t"/>
          <a:lstStyle/>
          <a:p>
            <a:pPr indent="0" marL="0">
              <a:buNone/>
            </a:pPr>
            <a:r>
              <a:rPr lang="en-US" sz="1400" dirty="0">
                <a:solidFill>
                  <a:schemeClr val="tx2"/>
                </a:solidFill>
              </a:rPr>
              <a:t>re-record whenever the animation changes</a:t>
            </a:r>
            <a:endParaRPr lang="en-US" sz="1400" dirty="0"/>
          </a:p>
        </p:txBody>
      </p:sp>
      <p:sp>
        <p:nvSpPr>
          <p:cNvPr id="19" name="Text 17"/>
          <p:cNvSpPr txBox="1"/>
          <p:nvPr/>
        </p:nvSpPr>
        <p:spPr>
          <a:xfrm>
            <a:off x="548640" y="4709160"/>
            <a:ext cx="5120640" cy="457200"/>
          </a:xfrm>
          <a:prstGeom prst="rect">
            <a:avLst/>
          </a:prstGeom>
          <a:noFill/>
          <a:ln/>
        </p:spPr>
        <p:txBody>
          <a:bodyPr wrap="square" lIns="0" tIns="0" rIns="0" bIns="0" rtlCol="0" anchor="t"/>
          <a:lstStyle/>
          <a:p>
            <a:pPr indent="0" marL="0">
              <a:buNone/>
            </a:pPr>
            <a:r>
              <a:rPr lang="en-US" sz="1800" i="1" dirty="0">
                <a:solidFill>
                  <a:schemeClr val="accent4"/>
                </a:solidFill>
              </a:rPr>
              <a:t>Every change to the idea sends you back to step 1.</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not just ask an AI video generator?</a:t>
            </a:r>
            <a:endParaRPr lang="en-US" sz="3200" dirty="0"/>
          </a:p>
        </p:txBody>
      </p:sp>
      <p:pic>
        <p:nvPicPr>
          <p:cNvPr id="3" name="Pixels vs code diagram" descr="/Users/dhup/Projects/manimation/docs/presentation/diagrams/pixels-vs-code.png">    </p:cNvPr>
          <p:cNvPicPr>
            <a:picLocks noChangeAspect="1"/>
          </p:cNvPicPr>
          <p:nvPr/>
        </p:nvPicPr>
        <p:blipFill>
          <a:blip r:embed="rId1"/>
          <a:stretch>
            <a:fillRect/>
          </a:stretch>
        </p:blipFill>
        <p:spPr>
          <a:xfrm>
            <a:off x="548640" y="1406797"/>
            <a:ext cx="11064240" cy="4044405"/>
          </a:xfrm>
          <a:prstGeom prst="rect">
            <a:avLst/>
          </a:prstGeom>
        </p:spPr>
      </p:pic>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800" b="1" dirty="0">
                <a:solidFill>
                  <a:schemeClr val="accent2"/>
                </a:solidFill>
              </a:rPr>
              <a:t>Our choice: the AI writes code, and a real math engine draws every frame: exact, checkable, editable.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Our idea: describe it, review it, get the video</a:t>
            </a:r>
            <a:endParaRPr lang="en-US" sz="3200" dirty="0"/>
          </a:p>
        </p:txBody>
      </p:sp>
      <p:sp>
        <p:nvSpPr>
          <p:cNvPr id="3" name="Flow 1 number"/>
          <p:cNvSpPr/>
          <p:nvPr/>
        </p:nvSpPr>
        <p:spPr>
          <a:xfrm>
            <a:off x="548640" y="146304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444752"/>
            <a:ext cx="3931920" cy="411480"/>
          </a:xfrm>
          <a:prstGeom prst="rect">
            <a:avLst/>
          </a:prstGeom>
          <a:noFill/>
          <a:ln/>
        </p:spPr>
        <p:txBody>
          <a:bodyPr wrap="square" lIns="0" tIns="0" rIns="0" bIns="0" rtlCol="0" anchor="t"/>
          <a:lstStyle/>
          <a:p>
            <a:pPr indent="0" marL="0">
              <a:buNone/>
            </a:pPr>
            <a:r>
              <a:rPr lang="en-US" sz="2000" b="1" dirty="0">
                <a:solidFill>
                  <a:schemeClr val="tx1"/>
                </a:solidFill>
              </a:rPr>
              <a:t>Describe</a:t>
            </a:r>
            <a:endParaRPr lang="en-US" sz="2000" dirty="0"/>
          </a:p>
        </p:txBody>
      </p:sp>
      <p:sp>
        <p:nvSpPr>
          <p:cNvPr id="6" name="Text 4"/>
          <p:cNvSpPr txBox="1"/>
          <p:nvPr/>
        </p:nvSpPr>
        <p:spPr>
          <a:xfrm>
            <a:off x="1325880" y="1874520"/>
            <a:ext cx="3931920" cy="777240"/>
          </a:xfrm>
          <a:prstGeom prst="rect">
            <a:avLst/>
          </a:prstGeom>
          <a:noFill/>
          <a:ln/>
        </p:spPr>
        <p:txBody>
          <a:bodyPr wrap="square" lIns="0" tIns="0" rIns="0" bIns="0" rtlCol="0" anchor="t"/>
          <a:lstStyle/>
          <a:p>
            <a:pPr indent="0" marL="0">
              <a:buNone/>
            </a:pPr>
            <a:r>
              <a:rPr lang="en-US" sz="1500" dirty="0">
                <a:solidFill>
                  <a:schemeClr val="tx2"/>
                </a:solidFill>
              </a:rPr>
              <a:t>Type one sentence and choose a color theme, the audience and a budget.</a:t>
            </a:r>
            <a:endParaRPr lang="en-US" sz="1500" dirty="0"/>
          </a:p>
        </p:txBody>
      </p:sp>
      <p:sp>
        <p:nvSpPr>
          <p:cNvPr id="7" name="Flow 2 number"/>
          <p:cNvSpPr/>
          <p:nvPr/>
        </p:nvSpPr>
        <p:spPr>
          <a:xfrm>
            <a:off x="548640" y="292608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907792"/>
            <a:ext cx="3931920" cy="411480"/>
          </a:xfrm>
          <a:prstGeom prst="rect">
            <a:avLst/>
          </a:prstGeom>
          <a:noFill/>
          <a:ln/>
        </p:spPr>
        <p:txBody>
          <a:bodyPr wrap="square" lIns="0" tIns="0" rIns="0" bIns="0" rtlCol="0" anchor="t"/>
          <a:lstStyle/>
          <a:p>
            <a:pPr indent="0" marL="0">
              <a:buNone/>
            </a:pPr>
            <a:r>
              <a:rPr lang="en-US" sz="2000" b="1" dirty="0">
                <a:solidFill>
                  <a:schemeClr val="tx1"/>
                </a:solidFill>
              </a:rPr>
              <a:t>Review</a:t>
            </a:r>
            <a:endParaRPr lang="en-US" sz="2000" dirty="0"/>
          </a:p>
        </p:txBody>
      </p:sp>
      <p:sp>
        <p:nvSpPr>
          <p:cNvPr id="10" name="Text 8"/>
          <p:cNvSpPr txBox="1"/>
          <p:nvPr/>
        </p:nvSpPr>
        <p:spPr>
          <a:xfrm>
            <a:off x="1325880" y="3337560"/>
            <a:ext cx="3931920" cy="777240"/>
          </a:xfrm>
          <a:prstGeom prst="rect">
            <a:avLst/>
          </a:prstGeom>
          <a:noFill/>
          <a:ln/>
        </p:spPr>
        <p:txBody>
          <a:bodyPr wrap="square" lIns="0" tIns="0" rIns="0" bIns="0" rtlCol="0" anchor="t"/>
          <a:lstStyle/>
          <a:p>
            <a:pPr indent="0" marL="0">
              <a:buNone/>
            </a:pPr>
            <a:r>
              <a:rPr lang="en-US" sz="1500" dirty="0">
                <a:solidFill>
                  <a:schemeClr val="tx2"/>
                </a:solidFill>
              </a:rPr>
              <a:t>Read the storyboard the AI planned and edit any narration or visual before code is written.</a:t>
            </a:r>
            <a:endParaRPr lang="en-US" sz="1500" dirty="0"/>
          </a:p>
        </p:txBody>
      </p:sp>
      <p:sp>
        <p:nvSpPr>
          <p:cNvPr id="11" name="Flow 3 number"/>
          <p:cNvSpPr/>
          <p:nvPr/>
        </p:nvSpPr>
        <p:spPr>
          <a:xfrm>
            <a:off x="548640" y="438912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548640" y="43891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325880" y="4370832"/>
            <a:ext cx="3931920" cy="411480"/>
          </a:xfrm>
          <a:prstGeom prst="rect">
            <a:avLst/>
          </a:prstGeom>
          <a:noFill/>
          <a:ln/>
        </p:spPr>
        <p:txBody>
          <a:bodyPr wrap="square" lIns="0" tIns="0" rIns="0" bIns="0" rtlCol="0" anchor="t"/>
          <a:lstStyle/>
          <a:p>
            <a:pPr indent="0" marL="0">
              <a:buNone/>
            </a:pPr>
            <a:r>
              <a:rPr lang="en-US" sz="2000" b="1" dirty="0">
                <a:solidFill>
                  <a:schemeClr val="tx1"/>
                </a:solidFill>
              </a:rPr>
              <a:t>Receive</a:t>
            </a:r>
            <a:endParaRPr lang="en-US" sz="2000" dirty="0"/>
          </a:p>
        </p:txBody>
      </p:sp>
      <p:sp>
        <p:nvSpPr>
          <p:cNvPr id="14" name="Text 12"/>
          <p:cNvSpPr txBox="1"/>
          <p:nvPr/>
        </p:nvSpPr>
        <p:spPr>
          <a:xfrm>
            <a:off x="1325880" y="4800600"/>
            <a:ext cx="3931920" cy="777240"/>
          </a:xfrm>
          <a:prstGeom prst="rect">
            <a:avLst/>
          </a:prstGeom>
          <a:noFill/>
          <a:ln/>
        </p:spPr>
        <p:txBody>
          <a:bodyPr wrap="square" lIns="0" tIns="0" rIns="0" bIns="0" rtlCol="0" anchor="t"/>
          <a:lstStyle/>
          <a:p>
            <a:pPr indent="0" marL="0">
              <a:buNone/>
            </a:pPr>
            <a:r>
              <a:rPr lang="en-US" sz="1500" dirty="0">
                <a:solidFill>
                  <a:schemeClr val="tx2"/>
                </a:solidFill>
              </a:rPr>
              <a:t>Watch and download the narrated video, plus the Manim code for every scene.</a:t>
            </a:r>
            <a:endParaRPr lang="en-US" sz="1500" dirty="0"/>
          </a:p>
        </p:txBody>
      </p:sp>
      <p:pic>
        <p:nvPicPr>
          <p:cNvPr id="15" name="Storyboard screenshot" descr="/Users/dhup/Projects/manimation/docs/presentation/images/ui-storyboard-top.png">    </p:cNvPr>
          <p:cNvPicPr>
            <a:picLocks noChangeAspect="1"/>
          </p:cNvPicPr>
          <p:nvPr/>
        </p:nvPicPr>
        <p:blipFill>
          <a:blip r:embed="rId1"/>
          <a:stretch>
            <a:fillRect/>
          </a:stretch>
        </p:blipFill>
        <p:spPr>
          <a:xfrm>
            <a:off x="5669280" y="1662351"/>
            <a:ext cx="5943600" cy="3807619"/>
          </a:xfrm>
          <a:prstGeom prst="rect">
            <a:avLst/>
          </a:prstGeom>
        </p:spPr>
      </p:pic>
      <p:sp>
        <p:nvSpPr>
          <p:cNvPr id="16" name="Screenshot frame"/>
          <p:cNvSpPr/>
          <p:nvPr/>
        </p:nvSpPr>
        <p:spPr>
          <a:xfrm>
            <a:off x="5669280" y="1662351"/>
            <a:ext cx="5943600" cy="3807619"/>
          </a:xfrm>
          <a:prstGeom prst="rect">
            <a:avLst/>
          </a:prstGeom>
          <a:ln w="12700">
            <a:solidFill>
              <a:srgbClr val="D1D5DB"/>
            </a:solidFill>
            <a:prstDash val="solid"/>
          </a:ln>
        </p:spPr>
      </p:sp>
      <p:sp>
        <p:nvSpPr>
          <p:cNvPr id="17" name="Text 14"/>
          <p:cNvSpPr txBox="1"/>
          <p:nvPr/>
        </p:nvSpPr>
        <p:spPr>
          <a:xfrm>
            <a:off x="5669280" y="5561409"/>
            <a:ext cx="5943600" cy="320040"/>
          </a:xfrm>
          <a:prstGeom prst="rect">
            <a:avLst/>
          </a:prstGeom>
          <a:noFill/>
          <a:ln/>
        </p:spPr>
        <p:txBody>
          <a:bodyPr wrap="square" lIns="0" tIns="0" rIns="0" bIns="0" rtlCol="0" anchor="t"/>
          <a:lstStyle/>
          <a:p>
            <a:pPr algn="ctr" indent="0" marL="0">
              <a:buNone/>
            </a:pPr>
            <a:r>
              <a:rPr lang="en-US" sz="1200" dirty="0">
                <a:solidFill>
                  <a:schemeClr val="tx2"/>
                </a:solidFill>
              </a:rPr>
              <a:t>The storyboard review screen of the web app</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a team of specialised agents</a:t>
            </a:r>
            <a:endParaRPr lang="en-US" sz="3200" dirty="0"/>
          </a:p>
        </p:txBody>
      </p:sp>
      <p:pic>
        <p:nvPicPr>
          <p:cNvPr id="3" name="Pipeline diagram" descr="/Users/dhup/Projects/manimation/docs/presentation/diagrams/pipeline.png">    </p:cNvPr>
          <p:cNvPicPr>
            <a:picLocks noChangeAspect="1"/>
          </p:cNvPicPr>
          <p:nvPr/>
        </p:nvPicPr>
        <p:blipFill>
          <a:blip r:embed="rId1"/>
          <a:stretch>
            <a:fillRect/>
          </a:stretch>
        </p:blipFill>
        <p:spPr>
          <a:xfrm>
            <a:off x="635921" y="1234440"/>
            <a:ext cx="10889678" cy="4663440"/>
          </a:xfrm>
          <a:prstGeom prst="rect">
            <a:avLst/>
          </a:prstGeom>
        </p:spPr>
      </p:pic>
      <p:sp>
        <p:nvSpPr>
          <p:cNvPr id="4" name="Text 1"/>
          <p:cNvSpPr txBox="1"/>
          <p:nvPr/>
        </p:nvSpPr>
        <p:spPr>
          <a:xfrm>
            <a:off x="548640" y="5943600"/>
            <a:ext cx="11064240" cy="365760"/>
          </a:xfrm>
          <a:prstGeom prst="rect">
            <a:avLst/>
          </a:prstGeom>
          <a:noFill/>
          <a:ln/>
        </p:spPr>
        <p:txBody>
          <a:bodyPr wrap="square" lIns="0" tIns="0" rIns="0" bIns="0" rtlCol="0" anchor="t"/>
          <a:lstStyle/>
          <a:p>
            <a:pPr indent="0" marL="0">
              <a:buNone/>
            </a:pPr>
            <a:r>
              <a:rPr lang="en-US" sz="1500" dirty="0">
                <a:solidFill>
                  <a:schemeClr val="tx2"/>
                </a:solidFill>
              </a:rPr>
              <a:t>Each agent does one job well. Blue steps use the AI; green steps are automatic and cost nothing.</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Making AI-written code reliable</a:t>
            </a:r>
            <a:endParaRPr lang="en-US" sz="32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700" dirty="0">
                <a:solidFill>
                  <a:schemeClr val="tx1"/>
                </a:solidFill>
              </a:rPr>
              <a:t>Language models are fluent but not exact: they invent function names and place text on top of other text. We surround the AI with four layers that prevent, catch, check and repair those mistakes.</a:t>
            </a:r>
            <a:endParaRPr lang="en-US" sz="1700" dirty="0"/>
          </a:p>
        </p:txBody>
      </p:sp>
      <p:pic>
        <p:nvPicPr>
          <p:cNvPr id="4" name="Guardrails diagram" descr="/Users/dhup/Projects/manimation/docs/presentation/diagrams/guardrails.png">    </p:cNvPr>
          <p:cNvPicPr>
            <a:picLocks noChangeAspect="1"/>
          </p:cNvPicPr>
          <p:nvPr/>
        </p:nvPicPr>
        <p:blipFill>
          <a:blip r:embed="rId1"/>
          <a:stretch>
            <a:fillRect/>
          </a:stretch>
        </p:blipFill>
        <p:spPr>
          <a:xfrm>
            <a:off x="548640" y="2476397"/>
            <a:ext cx="11064240" cy="1859486"/>
          </a:xfrm>
          <a:prstGeom prst="rect">
            <a:avLst/>
          </a:prstGeom>
        </p:spPr>
      </p:pic>
      <p:sp>
        <p:nvSpPr>
          <p:cNvPr id="5" name="Examples value"/>
          <p:cNvSpPr txBox="1"/>
          <p:nvPr/>
        </p:nvSpPr>
        <p:spPr>
          <a:xfrm>
            <a:off x="822960" y="4937760"/>
            <a:ext cx="32918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18</a:t>
            </a:r>
            <a:endParaRPr lang="en-US" sz="4000" dirty="0"/>
          </a:p>
        </p:txBody>
      </p:sp>
      <p:sp>
        <p:nvSpPr>
          <p:cNvPr id="6" name="Examples label"/>
          <p:cNvSpPr txBox="1"/>
          <p:nvPr/>
        </p:nvSpPr>
        <p:spPr>
          <a:xfrm>
            <a:off x="822960" y="5650992"/>
            <a:ext cx="3291840" cy="548640"/>
          </a:xfrm>
          <a:prstGeom prst="rect">
            <a:avLst/>
          </a:prstGeom>
          <a:noFill/>
          <a:ln/>
        </p:spPr>
        <p:txBody>
          <a:bodyPr wrap="square" lIns="0" tIns="0" rIns="0" bIns="0" rtlCol="0" anchor="t"/>
          <a:lstStyle/>
          <a:p>
            <a:pPr indent="0" marL="0">
              <a:buNone/>
            </a:pPr>
            <a:r>
              <a:rPr lang="en-US" sz="1400" dirty="0">
                <a:solidFill>
                  <a:schemeClr val="tx2"/>
                </a:solidFill>
              </a:rPr>
              <a:t>tested example scenes the AI learns from</a:t>
            </a:r>
            <a:endParaRPr lang="en-US" sz="1400" dirty="0"/>
          </a:p>
        </p:txBody>
      </p:sp>
      <p:sp>
        <p:nvSpPr>
          <p:cNvPr id="7" name="Tests value"/>
          <p:cNvSpPr txBox="1"/>
          <p:nvPr/>
        </p:nvSpPr>
        <p:spPr>
          <a:xfrm>
            <a:off x="4480560" y="4937760"/>
            <a:ext cx="329184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85</a:t>
            </a:r>
            <a:endParaRPr lang="en-US" sz="4000" dirty="0"/>
          </a:p>
        </p:txBody>
      </p:sp>
      <p:sp>
        <p:nvSpPr>
          <p:cNvPr id="8" name="Tests label"/>
          <p:cNvSpPr txBox="1"/>
          <p:nvPr/>
        </p:nvSpPr>
        <p:spPr>
          <a:xfrm>
            <a:off x="4480560" y="5650992"/>
            <a:ext cx="3291840" cy="548640"/>
          </a:xfrm>
          <a:prstGeom prst="rect">
            <a:avLst/>
          </a:prstGeom>
          <a:noFill/>
          <a:ln/>
        </p:spPr>
        <p:txBody>
          <a:bodyPr wrap="square" lIns="0" tIns="0" rIns="0" bIns="0" rtlCol="0" anchor="t"/>
          <a:lstStyle/>
          <a:p>
            <a:pPr indent="0" marL="0">
              <a:buNone/>
            </a:pPr>
            <a:r>
              <a:rPr lang="en-US" sz="1400" dirty="0">
                <a:solidFill>
                  <a:schemeClr val="tx2"/>
                </a:solidFill>
              </a:rPr>
              <a:t>automated tests on every part of the system</a:t>
            </a:r>
            <a:endParaRPr lang="en-US" sz="1400" dirty="0"/>
          </a:p>
        </p:txBody>
      </p:sp>
      <p:sp>
        <p:nvSpPr>
          <p:cNvPr id="9" name="Layout value"/>
          <p:cNvSpPr txBox="1"/>
          <p:nvPr/>
        </p:nvSpPr>
        <p:spPr>
          <a:xfrm>
            <a:off x="8138160" y="4937760"/>
            <a:ext cx="329184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0</a:t>
            </a:r>
            <a:endParaRPr lang="en-US" sz="4000" dirty="0"/>
          </a:p>
        </p:txBody>
      </p:sp>
      <p:sp>
        <p:nvSpPr>
          <p:cNvPr id="10" name="Layout label"/>
          <p:cNvSpPr txBox="1"/>
          <p:nvPr/>
        </p:nvSpPr>
        <p:spPr>
          <a:xfrm>
            <a:off x="8138160" y="5650992"/>
            <a:ext cx="3291840" cy="548640"/>
          </a:xfrm>
          <a:prstGeom prst="rect">
            <a:avLst/>
          </a:prstGeom>
          <a:noFill/>
          <a:ln/>
        </p:spPr>
        <p:txBody>
          <a:bodyPr wrap="square" lIns="0" tIns="0" rIns="0" bIns="0" rtlCol="0" anchor="t"/>
          <a:lstStyle/>
          <a:p>
            <a:pPr indent="0" marL="0">
              <a:buNone/>
            </a:pPr>
            <a:r>
              <a:rPr lang="en-US" sz="1400" dirty="0">
                <a:solidFill>
                  <a:schemeClr val="tx2"/>
                </a:solidFill>
              </a:rPr>
              <a:t>layout problems across all example scenes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Fix, don't rewrite: repairs work like a code editor</a:t>
            </a:r>
            <a:endParaRPr lang="en-US" sz="3200" dirty="0"/>
          </a:p>
        </p:txBody>
      </p:sp>
      <p:sp>
        <p:nvSpPr>
          <p:cNvPr id="3" name="Text 1"/>
          <p:cNvSpPr txBox="1"/>
          <p:nvPr/>
        </p:nvSpPr>
        <p:spPr>
          <a:xfrm>
            <a:off x="548640" y="1280160"/>
            <a:ext cx="6583680" cy="1188720"/>
          </a:xfrm>
          <a:prstGeom prst="rect">
            <a:avLst/>
          </a:prstGeom>
          <a:noFill/>
          <a:ln/>
        </p:spPr>
        <p:txBody>
          <a:bodyPr wrap="square" lIns="0" tIns="0" rIns="0" bIns="0" rtlCol="0" anchor="t"/>
          <a:lstStyle/>
          <a:p>
            <a:pPr indent="0" marL="0">
              <a:buNone/>
            </a:pPr>
            <a:r>
              <a:rPr lang="en-US" sz="1700" dirty="0">
                <a:solidFill>
                  <a:schemeClr val="tx1"/>
                </a:solidFill>
              </a:rPr>
              <a:t>When a scene fails, most systems ask the AI to write the whole file again: expensive, slow, and it can break parts that already worked. Our Fixer opens the file, edits only the broken lines, and re-checks, just like a developer in an editor.</a:t>
            </a:r>
            <a:endParaRPr lang="en-US" sz="1700" dirty="0"/>
          </a:p>
        </p:txBody>
      </p:sp>
      <p:sp>
        <p:nvSpPr>
          <p:cNvPr id="4" name="Text 2"/>
          <p:cNvSpPr txBox="1"/>
          <p:nvPr/>
        </p:nvSpPr>
        <p:spPr>
          <a:xfrm>
            <a:off x="548640" y="2697480"/>
            <a:ext cx="6583680" cy="320040"/>
          </a:xfrm>
          <a:prstGeom prst="rect">
            <a:avLst/>
          </a:prstGeom>
          <a:noFill/>
          <a:ln/>
        </p:spPr>
        <p:txBody>
          <a:bodyPr wrap="square" lIns="0" tIns="0" rIns="0" bIns="0" rtlCol="0" anchor="t"/>
          <a:lstStyle/>
          <a:p>
            <a:pPr indent="0" marL="0">
              <a:buNone/>
            </a:pPr>
            <a:r>
              <a:rPr lang="en-US" sz="1400" b="1" dirty="0">
                <a:solidFill>
                  <a:schemeClr val="accent4"/>
                </a:solidFill>
              </a:rPr>
              <a:t>Before: the title shows a literal caret</a:t>
            </a:r>
            <a:endParaRPr lang="en-US" sz="1400" dirty="0"/>
          </a:p>
        </p:txBody>
      </p:sp>
      <p:sp>
        <p:nvSpPr>
          <p:cNvPr id="5" name="Before code"/>
          <p:cNvSpPr/>
          <p:nvPr/>
        </p:nvSpPr>
        <p:spPr>
          <a:xfrm>
            <a:off x="548640" y="3063240"/>
            <a:ext cx="6583680" cy="685800"/>
          </a:xfrm>
          <a:prstGeom prst="roundRect">
            <a:avLst>
              <a:gd name="adj" fmla="val 10667"/>
            </a:avLst>
          </a:prstGeom>
          <a:solidFill>
            <a:srgbClr val="FDECEC"/>
          </a:solidFill>
          <a:ln w="12700">
            <a:solidFill>
              <a:srgbClr val="FDECEC"/>
            </a:solidFill>
            <a:prstDash val="solid"/>
          </a:ln>
        </p:spPr>
      </p:sp>
      <p:sp>
        <p:nvSpPr>
          <p:cNvPr id="6" name="Text 4"/>
          <p:cNvSpPr txBox="1"/>
          <p:nvPr/>
        </p:nvSpPr>
        <p:spPr>
          <a:xfrm>
            <a:off x="548640" y="3063240"/>
            <a:ext cx="6583680" cy="685800"/>
          </a:xfrm>
          <a:prstGeom prst="rect">
            <a:avLst/>
          </a:prstGeom>
          <a:noFill/>
          <a:ln/>
        </p:spPr>
        <p:txBody>
          <a:bodyPr wrap="square" lIns="152400" tIns="152400" rIns="152400" bIns="15240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title = title_card("How steep is y = x^2?")</a:t>
            </a:r>
            <a:endParaRPr lang="en-US" sz="1400" dirty="0"/>
          </a:p>
        </p:txBody>
      </p:sp>
      <p:sp>
        <p:nvSpPr>
          <p:cNvPr id="7" name="Text 5"/>
          <p:cNvSpPr txBox="1"/>
          <p:nvPr/>
        </p:nvSpPr>
        <p:spPr>
          <a:xfrm>
            <a:off x="548640" y="3977640"/>
            <a:ext cx="6583680" cy="320040"/>
          </a:xfrm>
          <a:prstGeom prst="rect">
            <a:avLst/>
          </a:prstGeom>
          <a:noFill/>
          <a:ln/>
        </p:spPr>
        <p:txBody>
          <a:bodyPr wrap="square" lIns="0" tIns="0" rIns="0" bIns="0" rtlCol="0" anchor="t"/>
          <a:lstStyle/>
          <a:p>
            <a:pPr indent="0" marL="0">
              <a:buNone/>
            </a:pPr>
            <a:r>
              <a:rPr lang="en-US" sz="1400" b="1" dirty="0">
                <a:solidFill>
                  <a:schemeClr val="accent2"/>
                </a:solidFill>
              </a:rPr>
              <a:t>After: one edit, real math typesetting</a:t>
            </a:r>
            <a:endParaRPr lang="en-US" sz="1400" dirty="0"/>
          </a:p>
        </p:txBody>
      </p:sp>
      <p:sp>
        <p:nvSpPr>
          <p:cNvPr id="8" name="After code"/>
          <p:cNvSpPr/>
          <p:nvPr/>
        </p:nvSpPr>
        <p:spPr>
          <a:xfrm>
            <a:off x="548640" y="4343400"/>
            <a:ext cx="6583680" cy="960120"/>
          </a:xfrm>
          <a:prstGeom prst="roundRect">
            <a:avLst>
              <a:gd name="adj" fmla="val 7619"/>
            </a:avLst>
          </a:prstGeom>
          <a:solidFill>
            <a:srgbClr val="E8F5E9"/>
          </a:solidFill>
          <a:ln w="12700">
            <a:solidFill>
              <a:srgbClr val="E8F5E9"/>
            </a:solidFill>
            <a:prstDash val="solid"/>
          </a:ln>
        </p:spPr>
      </p:sp>
      <p:sp>
        <p:nvSpPr>
          <p:cNvPr id="9" name="Text 7"/>
          <p:cNvSpPr txBox="1"/>
          <p:nvPr/>
        </p:nvSpPr>
        <p:spPr>
          <a:xfrm>
            <a:off x="548640" y="4343400"/>
            <a:ext cx="6583680" cy="960120"/>
          </a:xfrm>
          <a:prstGeom prst="rect">
            <a:avLst/>
          </a:prstGeom>
          <a:noFill/>
          <a:ln/>
        </p:spPr>
        <p:txBody>
          <a:bodyPr wrap="square" lIns="152400" tIns="152400" rIns="152400" bIns="15240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title = Tex(r"How steep is $y = x^2$?", font_size=44)</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place_in_zone(title, "TOP")</a:t>
            </a:r>
            <a:endParaRPr lang="en-US" sz="1400" dirty="0"/>
          </a:p>
        </p:txBody>
      </p:sp>
      <p:sp>
        <p:nvSpPr>
          <p:cNvPr id="10" name="Text 8"/>
          <p:cNvSpPr txBox="1"/>
          <p:nvPr/>
        </p:nvSpPr>
        <p:spPr>
          <a:xfrm>
            <a:off x="548640" y="5486400"/>
            <a:ext cx="6583680" cy="320040"/>
          </a:xfrm>
          <a:prstGeom prst="rect">
            <a:avLst/>
          </a:prstGeom>
          <a:noFill/>
          <a:ln/>
        </p:spPr>
        <p:txBody>
          <a:bodyPr wrap="square" lIns="0" tIns="0" rIns="0" bIns="0" rtlCol="0" anchor="t"/>
          <a:lstStyle/>
          <a:p>
            <a:pPr indent="0" marL="0">
              <a:buNone/>
            </a:pPr>
            <a:r>
              <a:rPr lang="en-US" sz="1200" dirty="0">
                <a:solidFill>
                  <a:schemeClr val="tx2"/>
                </a:solidFill>
              </a:rPr>
              <a:t>A real repair from our test run</a:t>
            </a:r>
            <a:endParaRPr lang="en-US" sz="1200" dirty="0"/>
          </a:p>
        </p:txBody>
      </p:sp>
      <p:sp>
        <p:nvSpPr>
          <p:cNvPr id="11" name="Fix stats card"/>
          <p:cNvSpPr/>
          <p:nvPr/>
        </p:nvSpPr>
        <p:spPr>
          <a:xfrm>
            <a:off x="7772400" y="1325880"/>
            <a:ext cx="3840480" cy="4480560"/>
          </a:xfrm>
          <a:prstGeom prst="roundRect">
            <a:avLst>
              <a:gd name="adj" fmla="val 2857"/>
            </a:avLst>
          </a:prstGeom>
          <a:solidFill>
            <a:schemeClr val="bg2"/>
          </a:solidFill>
          <a:ln w="12700">
            <a:solidFill>
              <a:schemeClr val="bg2"/>
            </a:solidFill>
            <a:prstDash val="solid"/>
          </a:ln>
        </p:spPr>
      </p:sp>
      <p:sp>
        <p:nvSpPr>
          <p:cNvPr id="12" name="Calls value"/>
          <p:cNvSpPr txBox="1"/>
          <p:nvPr/>
        </p:nvSpPr>
        <p:spPr>
          <a:xfrm>
            <a:off x="8092440" y="1554480"/>
            <a:ext cx="32918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13" name="Calls label"/>
          <p:cNvSpPr txBox="1"/>
          <p:nvPr/>
        </p:nvSpPr>
        <p:spPr>
          <a:xfrm>
            <a:off x="8092440" y="2267712"/>
            <a:ext cx="3291840" cy="548640"/>
          </a:xfrm>
          <a:prstGeom prst="rect">
            <a:avLst/>
          </a:prstGeom>
          <a:noFill/>
          <a:ln/>
        </p:spPr>
        <p:txBody>
          <a:bodyPr wrap="square" lIns="0" tIns="0" rIns="0" bIns="0" rtlCol="0" anchor="t"/>
          <a:lstStyle/>
          <a:p>
            <a:pPr indent="0" marL="0">
              <a:buNone/>
            </a:pPr>
            <a:r>
              <a:rPr lang="en-US" sz="1400" dirty="0">
                <a:solidFill>
                  <a:schemeClr val="tx2"/>
                </a:solidFill>
              </a:rPr>
              <a:t>AI call</a:t>
            </a:r>
            <a:endParaRPr lang="en-US" sz="1400" dirty="0"/>
          </a:p>
        </p:txBody>
      </p:sp>
      <p:sp>
        <p:nvSpPr>
          <p:cNvPr id="14" name="Edits value"/>
          <p:cNvSpPr txBox="1"/>
          <p:nvPr/>
        </p:nvSpPr>
        <p:spPr>
          <a:xfrm>
            <a:off x="8092440" y="2880360"/>
            <a:ext cx="329184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 edit</a:t>
            </a:r>
            <a:endParaRPr lang="en-US" sz="4000" dirty="0"/>
          </a:p>
        </p:txBody>
      </p:sp>
      <p:sp>
        <p:nvSpPr>
          <p:cNvPr id="15" name="Edits label"/>
          <p:cNvSpPr txBox="1"/>
          <p:nvPr/>
        </p:nvSpPr>
        <p:spPr>
          <a:xfrm>
            <a:off x="8092440" y="3593592"/>
            <a:ext cx="3291840" cy="548640"/>
          </a:xfrm>
          <a:prstGeom prst="rect">
            <a:avLst/>
          </a:prstGeom>
          <a:noFill/>
          <a:ln/>
        </p:spPr>
        <p:txBody>
          <a:bodyPr wrap="square" lIns="0" tIns="0" rIns="0" bIns="0" rtlCol="0" anchor="t"/>
          <a:lstStyle/>
          <a:p>
            <a:pPr indent="0" marL="0">
              <a:buNone/>
            </a:pPr>
            <a:r>
              <a:rPr lang="en-US" sz="1400" dirty="0">
                <a:solidFill>
                  <a:schemeClr val="tx2"/>
                </a:solidFill>
              </a:rPr>
              <a:t>the rest of the file untouched</a:t>
            </a:r>
            <a:endParaRPr lang="en-US" sz="1400" dirty="0"/>
          </a:p>
        </p:txBody>
      </p:sp>
      <p:sp>
        <p:nvSpPr>
          <p:cNvPr id="16" name="Fix cost value"/>
          <p:cNvSpPr txBox="1"/>
          <p:nvPr/>
        </p:nvSpPr>
        <p:spPr>
          <a:xfrm>
            <a:off x="8092440" y="4206240"/>
            <a:ext cx="329184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$0.015</a:t>
            </a:r>
            <a:endParaRPr lang="en-US" sz="4000" dirty="0"/>
          </a:p>
        </p:txBody>
      </p:sp>
      <p:sp>
        <p:nvSpPr>
          <p:cNvPr id="17" name="Fix cost label"/>
          <p:cNvSpPr txBox="1"/>
          <p:nvPr/>
        </p:nvSpPr>
        <p:spPr>
          <a:xfrm>
            <a:off x="8092440" y="4919472"/>
            <a:ext cx="3291840" cy="548640"/>
          </a:xfrm>
          <a:prstGeom prst="rect">
            <a:avLst/>
          </a:prstGeom>
          <a:noFill/>
          <a:ln/>
        </p:spPr>
        <p:txBody>
          <a:bodyPr wrap="square" lIns="0" tIns="0" rIns="0" bIns="0" rtlCol="0" anchor="t"/>
          <a:lstStyle/>
          <a:p>
            <a:pPr indent="0" marL="0">
              <a:buNone/>
            </a:pPr>
            <a:r>
              <a:rPr lang="en-US" sz="1400" dirty="0">
                <a:solidFill>
                  <a:schemeClr val="tx2"/>
                </a:solidFill>
              </a:rPr>
              <a:t>total cost of the repair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 video costs, and how long it takes</a:t>
            </a:r>
            <a:endParaRPr lang="en-US" sz="3200" dirty="0"/>
          </a:p>
        </p:txBody>
      </p:sp>
      <p:sp>
        <p:nvSpPr>
          <p:cNvPr id="3" name="Video cost value"/>
          <p:cNvSpPr txBox="1"/>
          <p:nvPr/>
        </p:nvSpPr>
        <p:spPr>
          <a:xfrm>
            <a:off x="548640" y="1280160"/>
            <a:ext cx="34747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$0.073</a:t>
            </a:r>
            <a:endParaRPr lang="en-US" sz="4000" dirty="0"/>
          </a:p>
        </p:txBody>
      </p:sp>
      <p:sp>
        <p:nvSpPr>
          <p:cNvPr id="4" name="Video cost label"/>
          <p:cNvSpPr txBox="1"/>
          <p:nvPr/>
        </p:nvSpPr>
        <p:spPr>
          <a:xfrm>
            <a:off x="548640" y="1993392"/>
            <a:ext cx="3474720" cy="548640"/>
          </a:xfrm>
          <a:prstGeom prst="rect">
            <a:avLst/>
          </a:prstGeom>
          <a:noFill/>
          <a:ln/>
        </p:spPr>
        <p:txBody>
          <a:bodyPr wrap="square" lIns="0" tIns="0" rIns="0" bIns="0" rtlCol="0" anchor="t"/>
          <a:lstStyle/>
          <a:p>
            <a:pPr indent="0" marL="0">
              <a:buNone/>
            </a:pPr>
            <a:r>
              <a:rPr lang="en-US" sz="1400" dirty="0">
                <a:solidFill>
                  <a:schemeClr val="tx2"/>
                </a:solidFill>
              </a:rPr>
              <a:t>complete 2-scene narrated video, real run</a:t>
            </a:r>
            <a:endParaRPr lang="en-US" sz="1400" dirty="0"/>
          </a:p>
        </p:txBody>
      </p:sp>
      <p:sp>
        <p:nvSpPr>
          <p:cNvPr id="5" name="Time value"/>
          <p:cNvSpPr txBox="1"/>
          <p:nvPr/>
        </p:nvSpPr>
        <p:spPr>
          <a:xfrm>
            <a:off x="4343400" y="1280160"/>
            <a:ext cx="347472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~1.5 min</a:t>
            </a:r>
            <a:endParaRPr lang="en-US" sz="4000" dirty="0"/>
          </a:p>
        </p:txBody>
      </p:sp>
      <p:sp>
        <p:nvSpPr>
          <p:cNvPr id="6" name="Time label"/>
          <p:cNvSpPr txBox="1"/>
          <p:nvPr/>
        </p:nvSpPr>
        <p:spPr>
          <a:xfrm>
            <a:off x="4343400" y="1993392"/>
            <a:ext cx="3474720" cy="548640"/>
          </a:xfrm>
          <a:prstGeom prst="rect">
            <a:avLst/>
          </a:prstGeom>
          <a:noFill/>
          <a:ln/>
        </p:spPr>
        <p:txBody>
          <a:bodyPr wrap="square" lIns="0" tIns="0" rIns="0" bIns="0" rtlCol="0" anchor="t"/>
          <a:lstStyle/>
          <a:p>
            <a:pPr indent="0" marL="0">
              <a:buNone/>
            </a:pPr>
            <a:r>
              <a:rPr lang="en-US" sz="1400" dirty="0">
                <a:solidFill>
                  <a:schemeClr val="tx2"/>
                </a:solidFill>
              </a:rPr>
              <a:t>from prompt to finished video</a:t>
            </a:r>
            <a:endParaRPr lang="en-US" sz="1400" dirty="0"/>
          </a:p>
        </p:txBody>
      </p:sp>
      <p:sp>
        <p:nvSpPr>
          <p:cNvPr id="7" name="Length value"/>
          <p:cNvSpPr txBox="1"/>
          <p:nvPr/>
        </p:nvSpPr>
        <p:spPr>
          <a:xfrm>
            <a:off x="8138160" y="1280160"/>
            <a:ext cx="347472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68 s</a:t>
            </a:r>
            <a:endParaRPr lang="en-US" sz="4000" dirty="0"/>
          </a:p>
        </p:txBody>
      </p:sp>
      <p:sp>
        <p:nvSpPr>
          <p:cNvPr id="8" name="Length label"/>
          <p:cNvSpPr txBox="1"/>
          <p:nvPr/>
        </p:nvSpPr>
        <p:spPr>
          <a:xfrm>
            <a:off x="8138160" y="1993392"/>
            <a:ext cx="3474720" cy="548640"/>
          </a:xfrm>
          <a:prstGeom prst="rect">
            <a:avLst/>
          </a:prstGeom>
          <a:noFill/>
          <a:ln/>
        </p:spPr>
        <p:txBody>
          <a:bodyPr wrap="square" lIns="0" tIns="0" rIns="0" bIns="0" rtlCol="0" anchor="t"/>
          <a:lstStyle/>
          <a:p>
            <a:pPr indent="0" marL="0">
              <a:buNone/>
            </a:pPr>
            <a:r>
              <a:rPr lang="en-US" sz="1400" dirty="0">
                <a:solidFill>
                  <a:schemeClr val="tx2"/>
                </a:solidFill>
              </a:rPr>
              <a:t>of narrated animation produced</a:t>
            </a:r>
            <a:endParaRPr lang="en-US" sz="1400" dirty="0"/>
          </a:p>
        </p:txBody>
      </p:sp>
      <p:graphicFrame>
        <p:nvGraphicFramePr>
          <p:cNvPr id="9" name="Cost by agent chart" descr=""/>
          <p:cNvGraphicFramePr/>
          <p:nvPr/>
        </p:nvGraphicFramePr>
        <p:xfrm>
          <a:off x="548640" y="2971800"/>
          <a:ext cx="5852160" cy="32004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858000" y="3017520"/>
            <a:ext cx="4754880" cy="411480"/>
          </a:xfrm>
          <a:prstGeom prst="rect">
            <a:avLst/>
          </a:prstGeom>
          <a:noFill/>
          <a:ln/>
        </p:spPr>
        <p:txBody>
          <a:bodyPr wrap="square" lIns="0" tIns="0" rIns="0" bIns="0" rtlCol="0" anchor="t"/>
          <a:lstStyle/>
          <a:p>
            <a:pPr indent="0" marL="0">
              <a:buNone/>
            </a:pPr>
            <a:r>
              <a:rPr lang="en-US" sz="1800" b="1" dirty="0">
                <a:solidFill>
                  <a:schemeClr val="tx1"/>
                </a:solidFill>
              </a:rPr>
              <a:t>How we keep it cheap</a:t>
            </a:r>
            <a:endParaRPr lang="en-US" sz="1800" dirty="0"/>
          </a:p>
        </p:txBody>
      </p:sp>
      <p:sp>
        <p:nvSpPr>
          <p:cNvPr id="11" name="Text 8"/>
          <p:cNvSpPr txBox="1"/>
          <p:nvPr/>
        </p:nvSpPr>
        <p:spPr>
          <a:xfrm>
            <a:off x="6858000" y="3520440"/>
            <a:ext cx="47548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 cost-efficient model by default, with a hard budget per video</a:t>
            </a:r>
            <a:endParaRPr lang="en-US" sz="1500" dirty="0"/>
          </a:p>
          <a:p>
            <a:pPr marL="342900" indent="-342900">
              <a:spcAft>
                <a:spcPts val="800"/>
              </a:spcAft>
              <a:buSzPct val="100000"/>
              <a:buChar char="•"/>
            </a:pPr>
            <a:r>
              <a:rPr lang="en-US" sz="1500" dirty="0">
                <a:solidFill>
                  <a:schemeClr val="tx1"/>
                </a:solidFill>
              </a:rPr>
              <a:t>Shared instructions cached, so later scenes cost less</a:t>
            </a:r>
            <a:endParaRPr lang="en-US" sz="1500" dirty="0"/>
          </a:p>
          <a:p>
            <a:pPr marL="342900" indent="-342900">
              <a:spcAft>
                <a:spcPts val="800"/>
              </a:spcAft>
              <a:buSzPct val="100000"/>
              <a:buChar char="•"/>
            </a:pPr>
            <a:r>
              <a:rPr lang="en-US" sz="1500" dirty="0">
                <a:solidFill>
                  <a:schemeClr val="tx1"/>
                </a:solidFill>
              </a:rPr>
              <a:t>Free checks run before any paid AI call</a:t>
            </a:r>
            <a:endParaRPr lang="en-US" sz="1500" dirty="0"/>
          </a:p>
          <a:p>
            <a:pPr marL="342900" indent="-342900">
              <a:spcAft>
                <a:spcPts val="800"/>
              </a:spcAft>
              <a:buSzPct val="100000"/>
              <a:buChar char="•"/>
            </a:pPr>
            <a:r>
              <a:rPr lang="en-US" sz="1500" dirty="0">
                <a:solidFill>
                  <a:schemeClr val="tx1"/>
                </a:solidFill>
              </a:rPr>
              <a:t>Repairs are small edits, never full rewrites</a:t>
            </a:r>
            <a:endParaRPr lang="en-US" sz="1500" dirty="0"/>
          </a:p>
          <a:p>
            <a:pPr marL="342900" indent="-342900">
              <a:spcAft>
                <a:spcPts val="800"/>
              </a:spcAft>
              <a:buSzPct val="100000"/>
              <a:buChar char="•"/>
            </a:pPr>
            <a:r>
              <a:rPr lang="en-US" sz="1500" dirty="0">
                <a:solidFill>
                  <a:schemeClr val="tx1"/>
                </a:solidFill>
              </a:rPr>
              <a:t>Every step saved, so resuming never pays twice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One consistent voice across the whole video</a:t>
            </a:r>
            <a:endParaRPr lang="en-US" sz="32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700" dirty="0">
                <a:solidFill>
                  <a:schemeClr val="tx1"/>
                </a:solidFill>
              </a:rPr>
              <a:t>Our first version recorded every narration line separately, and listeners noticed the voice shifting between scenes. Now the whole script is spoken in one continuous voice session, then split per scene.</a:t>
            </a:r>
            <a:endParaRPr lang="en-US" sz="1700" dirty="0"/>
          </a:p>
        </p:txBody>
      </p:sp>
      <p:graphicFrame>
        <p:nvGraphicFramePr>
          <p:cNvPr id="4" name="Pitch chart" descr=""/>
          <p:cNvGraphicFramePr/>
          <p:nvPr/>
        </p:nvGraphicFramePr>
        <p:xfrm>
          <a:off x="548640" y="2148840"/>
          <a:ext cx="6766560" cy="4023360"/>
        </p:xfrm>
        <a:graphic xmlns:a="http://schemas.openxmlformats.org/drawingml/2006/main">
          <a:graphicData uri="http://schemas.openxmlformats.org/drawingml/2006/chart">
            <c:chart xmlns:c="http://schemas.openxmlformats.org/drawingml/2006/chart" r:id="rId1"/>
          </a:graphicData>
        </a:graphic>
      </p:graphicFrame>
      <p:sp>
        <p:nvSpPr>
          <p:cNvPr id="5" name="Pitch value"/>
          <p:cNvSpPr txBox="1"/>
          <p:nvPr/>
        </p:nvSpPr>
        <p:spPr>
          <a:xfrm>
            <a:off x="7863840" y="2331720"/>
            <a:ext cx="37490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 steadier</a:t>
            </a:r>
            <a:endParaRPr lang="en-US" sz="4000" dirty="0"/>
          </a:p>
        </p:txBody>
      </p:sp>
      <p:sp>
        <p:nvSpPr>
          <p:cNvPr id="6" name="Pitch label"/>
          <p:cNvSpPr txBox="1"/>
          <p:nvPr/>
        </p:nvSpPr>
        <p:spPr>
          <a:xfrm>
            <a:off x="7863840" y="3044952"/>
            <a:ext cx="3749040" cy="548640"/>
          </a:xfrm>
          <a:prstGeom prst="rect">
            <a:avLst/>
          </a:prstGeom>
          <a:noFill/>
          <a:ln/>
        </p:spPr>
        <p:txBody>
          <a:bodyPr wrap="square" lIns="0" tIns="0" rIns="0" bIns="0" rtlCol="0" anchor="t"/>
          <a:lstStyle/>
          <a:p>
            <a:pPr indent="0" marL="0">
              <a:buNone/>
            </a:pPr>
            <a:r>
              <a:rPr lang="en-US" sz="1400" dirty="0">
                <a:solidFill>
                  <a:schemeClr val="tx2"/>
                </a:solidFill>
              </a:rPr>
              <a:t>pitch spread fell from 18.7 Hz to 6.0 Hz</a:t>
            </a:r>
            <a:endParaRPr lang="en-US" sz="1400" dirty="0"/>
          </a:p>
        </p:txBody>
      </p:sp>
      <p:sp>
        <p:nvSpPr>
          <p:cNvPr id="7" name="Sync value"/>
          <p:cNvSpPr txBox="1"/>
          <p:nvPr/>
        </p:nvSpPr>
        <p:spPr>
          <a:xfrm>
            <a:off x="7863840" y="3749040"/>
            <a:ext cx="374904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&lt; 0.05 s</a:t>
            </a:r>
            <a:endParaRPr lang="en-US" sz="4000" dirty="0"/>
          </a:p>
        </p:txBody>
      </p:sp>
      <p:sp>
        <p:nvSpPr>
          <p:cNvPr id="8" name="Sync label"/>
          <p:cNvSpPr txBox="1"/>
          <p:nvPr/>
        </p:nvSpPr>
        <p:spPr>
          <a:xfrm>
            <a:off x="7863840" y="4462272"/>
            <a:ext cx="3749040" cy="548640"/>
          </a:xfrm>
          <a:prstGeom prst="rect">
            <a:avLst/>
          </a:prstGeom>
          <a:noFill/>
          <a:ln/>
        </p:spPr>
        <p:txBody>
          <a:bodyPr wrap="square" lIns="0" tIns="0" rIns="0" bIns="0" rtlCol="0" anchor="t"/>
          <a:lstStyle/>
          <a:p>
            <a:pPr indent="0" marL="0">
              <a:buNone/>
            </a:pPr>
            <a:r>
              <a:rPr lang="en-US" sz="1400" dirty="0">
                <a:solidFill>
                  <a:schemeClr val="tx2"/>
                </a:solidFill>
              </a:rPr>
              <a:t>difference between audio and video length</a:t>
            </a:r>
            <a:endParaRPr lang="en-US" sz="1400" dirty="0"/>
          </a:p>
        </p:txBody>
      </p:sp>
      <p:sp>
        <p:nvSpPr>
          <p:cNvPr id="9" name="Text 6"/>
          <p:cNvSpPr txBox="1"/>
          <p:nvPr/>
        </p:nvSpPr>
        <p:spPr>
          <a:xfrm>
            <a:off x="7863840" y="5257800"/>
            <a:ext cx="3749040" cy="548640"/>
          </a:xfrm>
          <a:prstGeom prst="rect">
            <a:avLst/>
          </a:prstGeom>
          <a:noFill/>
          <a:ln/>
        </p:spPr>
        <p:txBody>
          <a:bodyPr wrap="square" lIns="0" tIns="0" rIns="0" bIns="0" rtlCol="0" anchor="t"/>
          <a:lstStyle/>
          <a:p>
            <a:pPr indent="0" marL="0">
              <a:buNone/>
            </a:pPr>
            <a:r>
              <a:rPr lang="en-US" sz="1300" dirty="0">
                <a:solidFill>
                  <a:schemeClr val="tx2"/>
                </a:solidFill>
              </a:rPr>
              <a:t>Voice: Deepgram Flux TTS, “Priya” (Indian English)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it makes today, and what comes next</a:t>
            </a:r>
            <a:endParaRPr lang="en-US" sz="3200" dirty="0"/>
          </a:p>
        </p:txBody>
      </p:sp>
      <p:pic>
        <p:nvPicPr>
          <p:cNvPr id="3" name="Sample frames" descr="/Users/dhup/Projects/manimation/docs/presentation/images/samples-2.png">    </p:cNvPr>
          <p:cNvPicPr>
            <a:picLocks noChangeAspect="1"/>
          </p:cNvPicPr>
          <p:nvPr/>
        </p:nvPicPr>
        <p:blipFill>
          <a:blip r:embed="rId1"/>
          <a:stretch>
            <a:fillRect/>
          </a:stretch>
        </p:blipFill>
        <p:spPr>
          <a:xfrm>
            <a:off x="962765" y="1234440"/>
            <a:ext cx="10235990" cy="2880360"/>
          </a:xfrm>
          <a:prstGeom prst="rect">
            <a:avLst/>
          </a:prstGeom>
        </p:spPr>
      </p:pic>
      <p:sp>
        <p:nvSpPr>
          <p:cNvPr id="4" name="Text 1"/>
          <p:cNvSpPr txBox="1"/>
          <p:nvPr/>
        </p:nvSpPr>
        <p:spPr>
          <a:xfrm>
            <a:off x="548640" y="4160520"/>
            <a:ext cx="11064240" cy="320040"/>
          </a:xfrm>
          <a:prstGeom prst="rect">
            <a:avLst/>
          </a:prstGeom>
          <a:noFill/>
          <a:ln/>
        </p:spPr>
        <p:txBody>
          <a:bodyPr wrap="square" lIns="0" tIns="0" rIns="0" bIns="0" rtlCol="0" anchor="t"/>
          <a:lstStyle/>
          <a:p>
            <a:pPr algn="ctr" indent="0" marL="0">
              <a:buNone/>
            </a:pPr>
            <a:r>
              <a:rPr lang="en-US" sz="1200" dirty="0">
                <a:solidFill>
                  <a:schemeClr val="tx2"/>
                </a:solidFill>
              </a:rPr>
              <a:t>Frames from scenes the system renders: algorithms, calculus, physics, geometry, linear algebra</a:t>
            </a:r>
            <a:endParaRPr lang="en-US" sz="1200" dirty="0"/>
          </a:p>
        </p:txBody>
      </p:sp>
      <p:sp>
        <p:nvSpPr>
          <p:cNvPr id="5" name="Text 2"/>
          <p:cNvSpPr txBox="1"/>
          <p:nvPr/>
        </p:nvSpPr>
        <p:spPr>
          <a:xfrm>
            <a:off x="548640" y="4617720"/>
            <a:ext cx="5303520" cy="365760"/>
          </a:xfrm>
          <a:prstGeom prst="rect">
            <a:avLst/>
          </a:prstGeom>
          <a:noFill/>
          <a:ln/>
        </p:spPr>
        <p:txBody>
          <a:bodyPr wrap="square" lIns="0" tIns="0" rIns="0" bIns="0" rtlCol="0" anchor="t"/>
          <a:lstStyle/>
          <a:p>
            <a:pPr indent="0" marL="0">
              <a:buNone/>
            </a:pPr>
            <a:r>
              <a:rPr lang="en-US" sz="1800" b="1" dirty="0">
                <a:solidFill>
                  <a:schemeClr val="accent2"/>
                </a:solidFill>
              </a:rPr>
              <a:t>Working today</a:t>
            </a:r>
            <a:endParaRPr lang="en-US" sz="1800" dirty="0"/>
          </a:p>
        </p:txBody>
      </p:sp>
      <p:sp>
        <p:nvSpPr>
          <p:cNvPr id="6" name="Text 3"/>
          <p:cNvSpPr txBox="1"/>
          <p:nvPr/>
        </p:nvSpPr>
        <p:spPr>
          <a:xfrm>
            <a:off x="548640" y="5029200"/>
            <a:ext cx="530352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Full web app: create, review, live progress, request changes</a:t>
            </a:r>
            <a:endParaRPr lang="en-US" sz="1500" dirty="0"/>
          </a:p>
          <a:p>
            <a:pPr marL="342900" indent="-342900">
              <a:spcAft>
                <a:spcPts val="400"/>
              </a:spcAft>
              <a:buSzPct val="100000"/>
              <a:buChar char="•"/>
            </a:pPr>
            <a:r>
              <a:rPr lang="en-US" sz="1500" dirty="0">
                <a:solidFill>
                  <a:schemeClr val="tx1"/>
                </a:solidFill>
              </a:rPr>
              <a:t>Narrated video in four themes, plus the source code</a:t>
            </a:r>
            <a:endParaRPr lang="en-US" sz="1500" dirty="0"/>
          </a:p>
          <a:p>
            <a:pPr marL="342900" indent="-342900">
              <a:spcAft>
                <a:spcPts val="400"/>
              </a:spcAft>
              <a:buSzPct val="100000"/>
              <a:buChar char="•"/>
            </a:pPr>
            <a:r>
              <a:rPr lang="en-US" sz="1500" dirty="0">
                <a:solidFill>
                  <a:schemeClr val="tx1"/>
                </a:solidFill>
              </a:rPr>
              <a:t>Runs offline in demo mode and in one Docker container</a:t>
            </a:r>
            <a:endParaRPr lang="en-US" sz="1500" dirty="0"/>
          </a:p>
        </p:txBody>
      </p:sp>
      <p:sp>
        <p:nvSpPr>
          <p:cNvPr id="7" name="Text 4"/>
          <p:cNvSpPr txBox="1"/>
          <p:nvPr/>
        </p:nvSpPr>
        <p:spPr>
          <a:xfrm>
            <a:off x="6309360" y="4617720"/>
            <a:ext cx="5303520" cy="365760"/>
          </a:xfrm>
          <a:prstGeom prst="rect">
            <a:avLst/>
          </a:prstGeom>
          <a:noFill/>
          <a:ln/>
        </p:spPr>
        <p:txBody>
          <a:bodyPr wrap="square" lIns="0" tIns="0" rIns="0" bIns="0" rtlCol="0" anchor="t"/>
          <a:lstStyle/>
          <a:p>
            <a:pPr indent="0" marL="0">
              <a:buNone/>
            </a:pPr>
            <a:r>
              <a:rPr lang="en-US" sz="1800" b="1" dirty="0">
                <a:solidFill>
                  <a:schemeClr val="accent1"/>
                </a:solidFill>
              </a:rPr>
              <a:t>Next</a:t>
            </a:r>
            <a:endParaRPr lang="en-US" sz="1800" dirty="0"/>
          </a:p>
        </p:txBody>
      </p:sp>
      <p:sp>
        <p:nvSpPr>
          <p:cNvPr id="8" name="Text 5"/>
          <p:cNvSpPr txBox="1"/>
          <p:nvPr/>
        </p:nvSpPr>
        <p:spPr>
          <a:xfrm>
            <a:off x="6309360" y="5029200"/>
            <a:ext cx="530352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Visual critic: an AI that reviews rendered frames</a:t>
            </a:r>
            <a:endParaRPr lang="en-US" sz="1500" dirty="0"/>
          </a:p>
          <a:p>
            <a:pPr marL="342900" indent="-342900">
              <a:spcAft>
                <a:spcPts val="400"/>
              </a:spcAft>
              <a:buSzPct val="100000"/>
              <a:buChar char="•"/>
            </a:pPr>
            <a:r>
              <a:rPr lang="en-US" sz="1500" dirty="0">
                <a:solidFill>
                  <a:schemeClr val="tx1"/>
                </a:solidFill>
              </a:rPr>
              <a:t>Larger evaluation on 15 math, physics and CS topics</a:t>
            </a:r>
            <a:endParaRPr lang="en-US" sz="1500" dirty="0"/>
          </a:p>
          <a:p>
            <a:pPr marL="342900" indent="-342900">
              <a:spcAft>
                <a:spcPts val="400"/>
              </a:spcAft>
              <a:buSzPct val="100000"/>
              <a:buChar char="•"/>
            </a:pPr>
            <a:r>
              <a:rPr lang="en-US" sz="1500" dirty="0">
                <a:solidFill>
                  <a:schemeClr val="tx1"/>
                </a:solidFill>
              </a:rPr>
              <a:t>Slide-clip mode for lecture slides; more voices and languages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ANImation Light">
  <a:themeElements>
    <a:clrScheme name="MANImation Light">
      <a:dk1>
        <a:srgbClr val="1F2937"/>
      </a:dk1>
      <a:lt1>
        <a:srgbClr val="FFFFFF"/>
      </a:lt1>
      <a:dk2>
        <a:srgbClr val="4B5563"/>
      </a:dk2>
      <a:lt2>
        <a:srgbClr val="F3F4F6"/>
      </a:lt2>
      <a:accent1>
        <a:srgbClr val="1F6FA8"/>
      </a:accent1>
      <a:accent2>
        <a:srgbClr val="2E7D32"/>
      </a:accent2>
      <a:accent3>
        <a:srgbClr val="B7791F"/>
      </a:accent3>
      <a:accent4>
        <a:srgbClr val="C2410C"/>
      </a:accent4>
      <a:accent5>
        <a:srgbClr val="6B46C1"/>
      </a:accent5>
      <a:accent6>
        <a:srgbClr val="6B7280"/>
      </a:accent6>
      <a:hlink>
        <a:srgbClr val="1F6FA8"/>
      </a:hlink>
      <a:folHlink>
        <a:srgbClr val="6B46C1"/>
      </a:folHlink>
    </a:clrScheme>
    <a:fontScheme name="MANImation L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MANImation Studio</dc:title>
  <dc:subject>Multi-agent AI system for educational animations</dc:subject>
  <dc:creator>Dhup Thumbadiya</dc:creator>
  <cp:lastModifiedBy>Dhup Thumbadiya</cp:lastModifiedBy>
  <cp:revision>1</cp:revision>
  <dcterms:created xsi:type="dcterms:W3CDTF">2026-10-04T11:11:08Z</dcterms:created>
  <dcterms:modified xsi:type="dcterms:W3CDTF">2026-10-04T11:11:08Z</dcterms:modified>
</cp:coreProperties>
</file>