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133ac432-bf01-edf7-d3a0-421727c11cab}">
          <p14:sldIdLst>
            <p14:sldId id="256"/>
            <p14:sldId id="257"/>
            <p14:sldId id="258"/>
          </p14:sldIdLst>
        </p14:section>
        <p14:section name="Solution" id="{e45971c0-ca75-afa8-3433-1220b6629cce}">
          <p14:sldIdLst>
            <p14:sldId id="259"/>
            <p14:sldId id="260"/>
            <p14:sldId id="261"/>
            <p14:sldId id="262"/>
          </p14:sldIdLst>
        </p14:section>
        <p14:section name="Results" id="{aa4e56b0-3d14-c445-dc87-b120645411d7}">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breath: you type one sentence describing a math, physics or computer-science idea, and the system produces a narrated animation in the style of the 3Blue1Brown YouTube channel, together with the code that draws it. The image on the right is an actual frame the system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ways people make math, CS and physics animations today. Traditional tools like After Effects or Blender need a professional animator, paid licences, and one to two weeks per minute; a 2D explainer minute typically costs one to five thousand dollars, and the animator still isn't checking the math. Code libraries like Manim, which 3Blue1Brown uses, are free and exact because the engine computes every position and LaTeX typesets the equations, but you need both subject knowledge and coding skill. Still a day or more per minute. That coding barrier is the gap we close: the AI writes the Manim code. Our real two-scene run cost 7 cents.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question: why not just use an AI video generator like Sora or Veo? Because they generate pixels. They have learned what videos look like, not what the math means. So equations come out garbled, since there's no LaTeX inside the model; geometry isn't exact, since nothing checks that a right angle stays a right angle; and you can't fix one detail without regenerating the whole clip, which then looks different. Our approach flips this: the AI writes code, and Manim with LaTeX draws every frame exactly. If something is wrong, we fix one line of code.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user experience in three steps. The important design choice is step two: the teacher stays in control. The AI proposes a storyboard, scene by scene and beat by beat, and the teacher can correct it before any code is written, which is also the cheapest moment to change your mind. The screenshot is the real review screen of our web app, built with React and FastAPI.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system on one slide. On top, the React web app: you type a prompt, review and edit the storyboard, watch live progress over a WebSocket, and download the video and code. The FastAPI backend runs a plain Python state machine that calls specialised agents. The Director, Claude Sonnet 5.5, plans scenes and narration as structured JSON. After you approve, the Coder writes one Manim file per scene. The Validator and Renderer are deterministic and free: they check the code, render a preview with Manim and LaTeX, and check the layout. If anything fails, the Fixer, also Claude, edits only the broken lines with a text-editor tool and re-checks. Narration comes from Deepgram Flux TTS in one continuous voice session, and ffmpeg assembles the final MP4. Underneath: the LLM layer enforces a budget and caches prompts, the AI codes against our own tested toolkit and 18 cookbook scenes, and every step is checkpointed. All of it ships as one Docker image.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showing range: these frames are from scenes the system renders, covering algorithms, calculus, physics, geometry and linear algebra. Today the complete web application works end to end, produces narrated video in four colour themes, and runs offline in a demo mode or in a single Docker container. Next we want an AI critic that looks at rendered frames, a larger evaluation across fifteen topics, and a slide-clip mode so teachers can drop short animations straight into lectures. Then offer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6035040" cy="137160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3" name="Text 0"/>
          <p:cNvSpPr/>
          <p:nvPr>
            <p:ph idx="101" type="body" hasCustomPrompt="1"/>
          </p:nvPr>
        </p:nvSpPr>
        <p:spPr>
          <a:xfrm>
            <a:off x="731520" y="3429000"/>
            <a:ext cx="5852160" cy="1463040"/>
          </a:xfrm>
          <a:prstGeom prst="rect">
            <a:avLst/>
          </a:prstGeom>
          <a:noFill/>
          <a:ln/>
        </p:spPr>
        <p:txBody>
          <a:bodyPr wrap="square" rtlCol="0"/>
          <a:lstStyle>
            <a:lvl1pPr indent="0" marL="0">
              <a:buNone/>
              <a:defRPr lang="en-US" sz="2000" dirty="0">
                <a:solidFill>
                  <a:schemeClr val="tx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chemeClr val="accent6"/>
                </a:solidFill>
              </a:rPr>
              <a:t>MANImation Studio</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6035040" cy="1371600"/>
          </a:xfrm>
          <a:prstGeom prst="rect">
            <a:avLst/>
          </a:prstGeom>
          <a:noFill/>
          <a:ln/>
        </p:spPr>
        <p:txBody>
          <a:bodyPr wrap="square" lIns="0" tIns="0" rIns="0" bIns="0" rtlCol="0" anchor="b"/>
          <a:lstStyle/>
          <a:p>
            <a:pPr algn="l" indent="0" marL="0">
              <a:buNone/>
            </a:pPr>
            <a:r>
              <a:rPr lang="en-US" sz="4400" b="1" dirty="0">
                <a:solidFill>
                  <a:schemeClr val="tx1"/>
                </a:solidFill>
              </a:rPr>
              <a:t>MANImation Studio</a:t>
            </a:r>
            <a:endParaRPr lang="en-US" sz="4400" dirty="0"/>
          </a:p>
        </p:txBody>
      </p:sp>
      <p:sp>
        <p:nvSpPr>
          <p:cNvPr id="3" name="Text 0"/>
          <p:cNvSpPr/>
          <p:nvPr>
            <p:ph idx="101" type="body" hasCustomPrompt="1"/>
          </p:nvPr>
        </p:nvSpPr>
        <p:spPr>
          <a:xfrm>
            <a:off x="731520" y="3429000"/>
            <a:ext cx="5852160" cy="1463040"/>
          </a:xfrm>
          <a:prstGeom prst="rect">
            <a:avLst/>
          </a:prstGeom>
          <a:noFill/>
          <a:ln/>
        </p:spPr>
        <p:txBody>
          <a:bodyPr wrap="square" lIns="0" tIns="0" rIns="0" bIns="0" rtlCol="0" anchor="t"/>
          <a:lstStyle/>
          <a:p>
            <a:pPr indent="0" marL="0">
              <a:buNone/>
            </a:pPr>
            <a:r>
              <a:rPr lang="en-US" sz="2000" dirty="0">
                <a:solidFill>
                  <a:schemeClr val="tx2"/>
                </a:solidFill>
              </a:rPr>
              <a:t>From one sentence to a narrated, 3Blue1Brown-style lesson video</a:t>
            </a:r>
            <a:endParaRPr lang="en-US" sz="2000" dirty="0"/>
          </a:p>
          <a:p>
            <a:pPr indent="0" marL="0">
              <a:buNone/>
            </a:pPr>
            <a:r>
              <a:rPr lang="en-US" sz="1000" dirty="0">
                <a:solidFill>
                  <a:schemeClr val="tx2"/>
                </a:solidFill>
              </a:rPr>
              <a:t> </a:t>
            </a:r>
            <a:endParaRPr lang="en-US" sz="2000" dirty="0"/>
          </a:p>
          <a:p>
            <a:pPr indent="0" marL="0">
              <a:buNone/>
            </a:pPr>
            <a:r>
              <a:rPr lang="en-US" sz="1600" dirty="0">
                <a:solidFill>
                  <a:schemeClr val="accent6"/>
                </a:solidFill>
              </a:rPr>
              <a:t>Multi-agent AI system  ·  Dhup Thumbadiya</a:t>
            </a:r>
            <a:endParaRPr lang="en-US" sz="2000" dirty="0"/>
          </a:p>
        </p:txBody>
      </p:sp>
      <p:pic>
        <p:nvPicPr>
          <p:cNvPr id="4" name="Hero frame" descr="/Users/dhup/Projects/manimation/docs/presentation/images/frame-pythagoras.png">    </p:cNvPr>
          <p:cNvPicPr>
            <a:picLocks noChangeAspect="1"/>
          </p:cNvPicPr>
          <p:nvPr/>
        </p:nvPicPr>
        <p:blipFill>
          <a:blip r:embed="rId1"/>
          <a:stretch>
            <a:fillRect/>
          </a:stretch>
        </p:blipFill>
        <p:spPr>
          <a:xfrm>
            <a:off x="7040880" y="2144129"/>
            <a:ext cx="4572000" cy="2569742"/>
          </a:xfrm>
          <a:prstGeom prst="rect">
            <a:avLst/>
          </a:prstGeom>
        </p:spPr>
      </p:pic>
      <p:sp>
        <p:nvSpPr>
          <p:cNvPr id="5" name="Text 2"/>
          <p:cNvSpPr txBox="1"/>
          <p:nvPr/>
        </p:nvSpPr>
        <p:spPr>
          <a:xfrm>
            <a:off x="7040880" y="4823599"/>
            <a:ext cx="4572000" cy="320040"/>
          </a:xfrm>
          <a:prstGeom prst="rect">
            <a:avLst/>
          </a:prstGeom>
          <a:noFill/>
          <a:ln/>
        </p:spPr>
        <p:txBody>
          <a:bodyPr wrap="square" lIns="0" tIns="0" rIns="0" bIns="0" rtlCol="0" anchor="t"/>
          <a:lstStyle/>
          <a:p>
            <a:pPr algn="ctr" indent="0" marL="0">
              <a:buNone/>
            </a:pPr>
            <a:r>
              <a:rPr lang="en-US" sz="1200" dirty="0">
                <a:solidFill>
                  <a:schemeClr val="tx2"/>
                </a:solidFill>
              </a:rPr>
              <a:t>A frame generated by the system: Pythagorean proof</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Two ways to make a 1-minute math animation today</a:t>
            </a:r>
            <a:endParaRPr lang="en-US" sz="3200" dirty="0"/>
          </a:p>
        </p:txBody>
      </p:sp>
      <p:sp>
        <p:nvSpPr>
          <p:cNvPr id="3" name="Shape 0"/>
          <p:cNvSpPr/>
          <p:nvPr/>
        </p:nvSpPr>
        <p:spPr>
          <a:xfrm>
            <a:off x="548640" y="1280160"/>
            <a:ext cx="5394960" cy="3931920"/>
          </a:xfrm>
          <a:prstGeom prst="roundRect">
            <a:avLst>
              <a:gd name="adj" fmla="val 2326"/>
            </a:avLst>
          </a:prstGeom>
          <a:solidFill>
            <a:schemeClr val="bg2"/>
          </a:solidFill>
          <a:ln w="12700">
            <a:solidFill>
              <a:schemeClr val="bg2"/>
            </a:solidFill>
            <a:prstDash val="solid"/>
          </a:ln>
        </p:spPr>
      </p:sp>
      <p:sp>
        <p:nvSpPr>
          <p:cNvPr id="4" name="Text 1"/>
          <p:cNvSpPr txBox="1"/>
          <p:nvPr/>
        </p:nvSpPr>
        <p:spPr>
          <a:xfrm>
            <a:off x="822960" y="1463040"/>
            <a:ext cx="484632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Traditional animation software</a:t>
            </a:r>
            <a:endParaRPr lang="en-US" sz="2000" dirty="0"/>
          </a:p>
        </p:txBody>
      </p:sp>
      <p:sp>
        <p:nvSpPr>
          <p:cNvPr id="5" name="Text 2"/>
          <p:cNvSpPr txBox="1"/>
          <p:nvPr/>
        </p:nvSpPr>
        <p:spPr>
          <a:xfrm>
            <a:off x="822960" y="1847088"/>
            <a:ext cx="4846320" cy="274320"/>
          </a:xfrm>
          <a:prstGeom prst="rect">
            <a:avLst/>
          </a:prstGeom>
          <a:noFill/>
          <a:ln/>
        </p:spPr>
        <p:txBody>
          <a:bodyPr wrap="square" lIns="0" tIns="0" rIns="0" bIns="0" rtlCol="0" anchor="t"/>
          <a:lstStyle/>
          <a:p>
            <a:pPr indent="0" marL="0">
              <a:buNone/>
            </a:pPr>
            <a:r>
              <a:rPr lang="en-US" sz="1300" dirty="0">
                <a:solidFill>
                  <a:schemeClr val="tx2"/>
                </a:solidFill>
              </a:rPr>
              <a:t>After Effects · Blender · Adobe Animate</a:t>
            </a:r>
            <a:endParaRPr lang="en-US" sz="1300" dirty="0"/>
          </a:p>
        </p:txBody>
      </p:sp>
      <p:sp>
        <p:nvSpPr>
          <p:cNvPr id="6" name="Text 3"/>
          <p:cNvSpPr txBox="1"/>
          <p:nvPr/>
        </p:nvSpPr>
        <p:spPr>
          <a:xfrm>
            <a:off x="822960" y="2286000"/>
            <a:ext cx="2743200" cy="548640"/>
          </a:xfrm>
          <a:prstGeom prst="rect">
            <a:avLst/>
          </a:prstGeom>
          <a:noFill/>
          <a:ln/>
        </p:spPr>
        <p:txBody>
          <a:bodyPr wrap="square" lIns="0" tIns="0" rIns="0" bIns="0" rtlCol="0" anchor="ctr"/>
          <a:lstStyle/>
          <a:p>
            <a:pPr indent="0" marL="0">
              <a:buNone/>
            </a:pPr>
            <a:r>
              <a:rPr lang="en-US" sz="2800" b="1" dirty="0">
                <a:solidFill>
                  <a:schemeClr val="accent4"/>
                </a:solidFill>
                <a:latin typeface="Cambria" pitchFamily="34" charset="0"/>
                <a:ea typeface="Cambria" pitchFamily="34" charset="-122"/>
                <a:cs typeface="Cambria" pitchFamily="34" charset="-120"/>
              </a:rPr>
              <a:t>$1,000 – 5,000</a:t>
            </a:r>
            <a:endParaRPr lang="en-US" sz="2800" dirty="0"/>
          </a:p>
        </p:txBody>
      </p:sp>
      <p:sp>
        <p:nvSpPr>
          <p:cNvPr id="7" name="Text 4"/>
          <p:cNvSpPr txBox="1"/>
          <p:nvPr/>
        </p:nvSpPr>
        <p:spPr>
          <a:xfrm>
            <a:off x="822960" y="2834640"/>
            <a:ext cx="2743200" cy="274320"/>
          </a:xfrm>
          <a:prstGeom prst="rect">
            <a:avLst/>
          </a:prstGeom>
          <a:noFill/>
          <a:ln/>
        </p:spPr>
        <p:txBody>
          <a:bodyPr wrap="square" lIns="0" tIns="0" rIns="0" bIns="0" rtlCol="0" anchor="t"/>
          <a:lstStyle/>
          <a:p>
            <a:pPr indent="0" marL="0">
              <a:buNone/>
            </a:pPr>
            <a:r>
              <a:rPr lang="en-US" sz="1200" dirty="0">
                <a:solidFill>
                  <a:schemeClr val="tx2"/>
                </a:solidFill>
              </a:rPr>
              <a:t>estimated cost, 1-minute animation</a:t>
            </a:r>
            <a:endParaRPr lang="en-US" sz="1200" dirty="0"/>
          </a:p>
        </p:txBody>
      </p:sp>
      <p:sp>
        <p:nvSpPr>
          <p:cNvPr id="8" name="Text 5"/>
          <p:cNvSpPr txBox="1"/>
          <p:nvPr/>
        </p:nvSpPr>
        <p:spPr>
          <a:xfrm>
            <a:off x="3703320" y="2286000"/>
            <a:ext cx="210312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1 – 2 weeks</a:t>
            </a:r>
            <a:endParaRPr lang="en-US" sz="2800" dirty="0"/>
          </a:p>
        </p:txBody>
      </p:sp>
      <p:sp>
        <p:nvSpPr>
          <p:cNvPr id="9" name="Text 6"/>
          <p:cNvSpPr txBox="1"/>
          <p:nvPr/>
        </p:nvSpPr>
        <p:spPr>
          <a:xfrm>
            <a:off x="3703320" y="2834640"/>
            <a:ext cx="2103120" cy="274320"/>
          </a:xfrm>
          <a:prstGeom prst="rect">
            <a:avLst/>
          </a:prstGeom>
          <a:noFill/>
          <a:ln/>
        </p:spPr>
        <p:txBody>
          <a:bodyPr wrap="square" lIns="0" tIns="0" rIns="0" bIns="0" rtlCol="0" anchor="t"/>
          <a:lstStyle/>
          <a:p>
            <a:pPr indent="0" marL="0">
              <a:buNone/>
            </a:pPr>
            <a:r>
              <a:rPr lang="en-US" sz="1200" dirty="0">
                <a:solidFill>
                  <a:schemeClr val="tx2"/>
                </a:solidFill>
              </a:rPr>
              <a:t>time to produce it</a:t>
            </a:r>
            <a:endParaRPr lang="en-US" sz="1200" dirty="0"/>
          </a:p>
        </p:txBody>
      </p:sp>
      <p:sp>
        <p:nvSpPr>
          <p:cNvPr id="10" name="Text 7"/>
          <p:cNvSpPr txBox="1"/>
          <p:nvPr/>
        </p:nvSpPr>
        <p:spPr>
          <a:xfrm>
            <a:off x="822960" y="3383280"/>
            <a:ext cx="1005840" cy="502920"/>
          </a:xfrm>
          <a:prstGeom prst="rect">
            <a:avLst/>
          </a:prstGeom>
          <a:noFill/>
          <a:ln/>
        </p:spPr>
        <p:txBody>
          <a:bodyPr wrap="square" lIns="0" tIns="0" rIns="0" bIns="0" rtlCol="0" anchor="t"/>
          <a:lstStyle/>
          <a:p>
            <a:pPr indent="0" marL="0">
              <a:buNone/>
            </a:pPr>
            <a:r>
              <a:rPr lang="en-US" sz="1400" b="1" dirty="0">
                <a:solidFill>
                  <a:schemeClr val="accent4"/>
                </a:solidFill>
              </a:rPr>
              <a:t>Needs</a:t>
            </a:r>
            <a:endParaRPr lang="en-US" sz="1400" dirty="0"/>
          </a:p>
        </p:txBody>
      </p:sp>
      <p:sp>
        <p:nvSpPr>
          <p:cNvPr id="11" name="Text 8"/>
          <p:cNvSpPr txBox="1"/>
          <p:nvPr/>
        </p:nvSpPr>
        <p:spPr>
          <a:xfrm>
            <a:off x="1874520" y="3383280"/>
            <a:ext cx="3794760" cy="502920"/>
          </a:xfrm>
          <a:prstGeom prst="rect">
            <a:avLst/>
          </a:prstGeom>
          <a:noFill/>
          <a:ln/>
        </p:spPr>
        <p:txBody>
          <a:bodyPr wrap="square" lIns="0" tIns="0" rIns="0" bIns="0" rtlCol="0" anchor="t"/>
          <a:lstStyle/>
          <a:p>
            <a:pPr indent="0" marL="0">
              <a:buNone/>
            </a:pPr>
            <a:r>
              <a:rPr lang="en-US" sz="1400" dirty="0">
                <a:solidFill>
                  <a:schemeClr val="tx1"/>
                </a:solidFill>
              </a:rPr>
              <a:t>a professional animator, plus paid software licences</a:t>
            </a:r>
            <a:endParaRPr lang="en-US" sz="1400" dirty="0"/>
          </a:p>
        </p:txBody>
      </p:sp>
      <p:sp>
        <p:nvSpPr>
          <p:cNvPr id="12" name="Text 9"/>
          <p:cNvSpPr txBox="1"/>
          <p:nvPr/>
        </p:nvSpPr>
        <p:spPr>
          <a:xfrm>
            <a:off x="822960" y="3950208"/>
            <a:ext cx="1005840" cy="502920"/>
          </a:xfrm>
          <a:prstGeom prst="rect">
            <a:avLst/>
          </a:prstGeom>
          <a:noFill/>
          <a:ln/>
        </p:spPr>
        <p:txBody>
          <a:bodyPr wrap="square" lIns="0" tIns="0" rIns="0" bIns="0" rtlCol="0" anchor="t"/>
          <a:lstStyle/>
          <a:p>
            <a:pPr indent="0" marL="0">
              <a:buNone/>
            </a:pPr>
            <a:r>
              <a:rPr lang="en-US" sz="1400" b="1" dirty="0">
                <a:solidFill>
                  <a:schemeClr val="accent4"/>
                </a:solidFill>
              </a:rPr>
              <a:t>How</a:t>
            </a:r>
            <a:endParaRPr lang="en-US" sz="1400" dirty="0"/>
          </a:p>
        </p:txBody>
      </p:sp>
      <p:sp>
        <p:nvSpPr>
          <p:cNvPr id="13" name="Text 10"/>
          <p:cNvSpPr txBox="1"/>
          <p:nvPr/>
        </p:nvSpPr>
        <p:spPr>
          <a:xfrm>
            <a:off x="1874520" y="3950208"/>
            <a:ext cx="3794760" cy="502920"/>
          </a:xfrm>
          <a:prstGeom prst="rect">
            <a:avLst/>
          </a:prstGeom>
          <a:noFill/>
          <a:ln/>
        </p:spPr>
        <p:txBody>
          <a:bodyPr wrap="square" lIns="0" tIns="0" rIns="0" bIns="0" rtlCol="0" anchor="t"/>
          <a:lstStyle/>
          <a:p>
            <a:pPr indent="0" marL="0">
              <a:buNone/>
            </a:pPr>
            <a:r>
              <a:rPr lang="en-US" sz="1400" dirty="0">
                <a:solidFill>
                  <a:schemeClr val="tx1"/>
                </a:solidFill>
              </a:rPr>
              <a:t>every shape keyframed by hand; equations pasted in as images</a:t>
            </a:r>
            <a:endParaRPr lang="en-US" sz="1400" dirty="0"/>
          </a:p>
        </p:txBody>
      </p:sp>
      <p:sp>
        <p:nvSpPr>
          <p:cNvPr id="14" name="Text 11"/>
          <p:cNvSpPr txBox="1"/>
          <p:nvPr/>
        </p:nvSpPr>
        <p:spPr>
          <a:xfrm>
            <a:off x="822960" y="4517136"/>
            <a:ext cx="1005840" cy="502920"/>
          </a:xfrm>
          <a:prstGeom prst="rect">
            <a:avLst/>
          </a:prstGeom>
          <a:noFill/>
          <a:ln/>
        </p:spPr>
        <p:txBody>
          <a:bodyPr wrap="square" lIns="0" tIns="0" rIns="0" bIns="0" rtlCol="0" anchor="t"/>
          <a:lstStyle/>
          <a:p>
            <a:pPr indent="0" marL="0">
              <a:buNone/>
            </a:pPr>
            <a:r>
              <a:rPr lang="en-US" sz="1400" b="1" dirty="0">
                <a:solidFill>
                  <a:schemeClr val="accent4"/>
                </a:solidFill>
              </a:rPr>
              <a:t>Weak spot</a:t>
            </a:r>
            <a:endParaRPr lang="en-US" sz="1400" dirty="0"/>
          </a:p>
        </p:txBody>
      </p:sp>
      <p:sp>
        <p:nvSpPr>
          <p:cNvPr id="15" name="Text 12"/>
          <p:cNvSpPr txBox="1"/>
          <p:nvPr/>
        </p:nvSpPr>
        <p:spPr>
          <a:xfrm>
            <a:off x="1874520" y="4517136"/>
            <a:ext cx="3794760" cy="502920"/>
          </a:xfrm>
          <a:prstGeom prst="rect">
            <a:avLst/>
          </a:prstGeom>
          <a:noFill/>
          <a:ln/>
        </p:spPr>
        <p:txBody>
          <a:bodyPr wrap="square" lIns="0" tIns="0" rIns="0" bIns="0" rtlCol="0" anchor="t"/>
          <a:lstStyle/>
          <a:p>
            <a:pPr indent="0" marL="0">
              <a:buNone/>
            </a:pPr>
            <a:r>
              <a:rPr lang="en-US" sz="1400" dirty="0">
                <a:solidFill>
                  <a:schemeClr val="tx1"/>
                </a:solidFill>
              </a:rPr>
              <a:t>accuracy depends on the animator; changing one number means redoing the shot</a:t>
            </a:r>
            <a:endParaRPr lang="en-US" sz="1400" dirty="0"/>
          </a:p>
        </p:txBody>
      </p:sp>
      <p:sp>
        <p:nvSpPr>
          <p:cNvPr id="16" name="Shape 13"/>
          <p:cNvSpPr/>
          <p:nvPr/>
        </p:nvSpPr>
        <p:spPr>
          <a:xfrm>
            <a:off x="6245352" y="1280160"/>
            <a:ext cx="5394960" cy="3931920"/>
          </a:xfrm>
          <a:prstGeom prst="roundRect">
            <a:avLst>
              <a:gd name="adj" fmla="val 2326"/>
            </a:avLst>
          </a:prstGeom>
          <a:solidFill>
            <a:schemeClr val="bg2"/>
          </a:solidFill>
          <a:ln w="12700">
            <a:solidFill>
              <a:schemeClr val="bg2"/>
            </a:solidFill>
            <a:prstDash val="solid"/>
          </a:ln>
        </p:spPr>
      </p:sp>
      <p:sp>
        <p:nvSpPr>
          <p:cNvPr id="17" name="Text 14"/>
          <p:cNvSpPr txBox="1"/>
          <p:nvPr/>
        </p:nvSpPr>
        <p:spPr>
          <a:xfrm>
            <a:off x="6519672" y="1463040"/>
            <a:ext cx="484632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Code libraries (e.g. Manim)</a:t>
            </a:r>
            <a:endParaRPr lang="en-US" sz="2000" dirty="0"/>
          </a:p>
        </p:txBody>
      </p:sp>
      <p:sp>
        <p:nvSpPr>
          <p:cNvPr id="18" name="Text 15"/>
          <p:cNvSpPr txBox="1"/>
          <p:nvPr/>
        </p:nvSpPr>
        <p:spPr>
          <a:xfrm>
            <a:off x="6519672" y="1847088"/>
            <a:ext cx="4846320" cy="274320"/>
          </a:xfrm>
          <a:prstGeom prst="rect">
            <a:avLst/>
          </a:prstGeom>
          <a:noFill/>
          <a:ln/>
        </p:spPr>
        <p:txBody>
          <a:bodyPr wrap="square" lIns="0" tIns="0" rIns="0" bIns="0" rtlCol="0" anchor="t"/>
          <a:lstStyle/>
          <a:p>
            <a:pPr indent="0" marL="0">
              <a:buNone/>
            </a:pPr>
            <a:r>
              <a:rPr lang="en-US" sz="1300" dirty="0">
                <a:solidFill>
                  <a:schemeClr val="tx2"/>
                </a:solidFill>
              </a:rPr>
              <a:t>Manim · Python · LaTeX: free and open source</a:t>
            </a:r>
            <a:endParaRPr lang="en-US" sz="1300" dirty="0"/>
          </a:p>
        </p:txBody>
      </p:sp>
      <p:sp>
        <p:nvSpPr>
          <p:cNvPr id="19" name="Text 16"/>
          <p:cNvSpPr txBox="1"/>
          <p:nvPr/>
        </p:nvSpPr>
        <p:spPr>
          <a:xfrm>
            <a:off x="6519672" y="2286000"/>
            <a:ext cx="2743200" cy="54864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$200 – 1,000</a:t>
            </a:r>
            <a:endParaRPr lang="en-US" sz="2800" dirty="0"/>
          </a:p>
        </p:txBody>
      </p:sp>
      <p:sp>
        <p:nvSpPr>
          <p:cNvPr id="20" name="Text 17"/>
          <p:cNvSpPr txBox="1"/>
          <p:nvPr/>
        </p:nvSpPr>
        <p:spPr>
          <a:xfrm>
            <a:off x="6519672" y="2834640"/>
            <a:ext cx="2743200" cy="274320"/>
          </a:xfrm>
          <a:prstGeom prst="rect">
            <a:avLst/>
          </a:prstGeom>
          <a:noFill/>
          <a:ln/>
        </p:spPr>
        <p:txBody>
          <a:bodyPr wrap="square" lIns="0" tIns="0" rIns="0" bIns="0" rtlCol="0" anchor="t"/>
          <a:lstStyle/>
          <a:p>
            <a:pPr indent="0" marL="0">
              <a:buNone/>
            </a:pPr>
            <a:r>
              <a:rPr lang="en-US" sz="1200" dirty="0">
                <a:solidFill>
                  <a:schemeClr val="tx2"/>
                </a:solidFill>
              </a:rPr>
              <a:t>estimated cost, 1-minute animation</a:t>
            </a:r>
            <a:endParaRPr lang="en-US" sz="1200" dirty="0"/>
          </a:p>
        </p:txBody>
      </p:sp>
      <p:sp>
        <p:nvSpPr>
          <p:cNvPr id="21" name="Text 18"/>
          <p:cNvSpPr txBox="1"/>
          <p:nvPr/>
        </p:nvSpPr>
        <p:spPr>
          <a:xfrm>
            <a:off x="9400032" y="2286000"/>
            <a:ext cx="210312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1 – 3 days</a:t>
            </a:r>
            <a:endParaRPr lang="en-US" sz="2800" dirty="0"/>
          </a:p>
        </p:txBody>
      </p:sp>
      <p:sp>
        <p:nvSpPr>
          <p:cNvPr id="22" name="Text 19"/>
          <p:cNvSpPr txBox="1"/>
          <p:nvPr/>
        </p:nvSpPr>
        <p:spPr>
          <a:xfrm>
            <a:off x="9400032" y="2834640"/>
            <a:ext cx="2103120" cy="274320"/>
          </a:xfrm>
          <a:prstGeom prst="rect">
            <a:avLst/>
          </a:prstGeom>
          <a:noFill/>
          <a:ln/>
        </p:spPr>
        <p:txBody>
          <a:bodyPr wrap="square" lIns="0" tIns="0" rIns="0" bIns="0" rtlCol="0" anchor="t"/>
          <a:lstStyle/>
          <a:p>
            <a:pPr indent="0" marL="0">
              <a:buNone/>
            </a:pPr>
            <a:r>
              <a:rPr lang="en-US" sz="1200" dirty="0">
                <a:solidFill>
                  <a:schemeClr val="tx2"/>
                </a:solidFill>
              </a:rPr>
              <a:t>time to produce it</a:t>
            </a:r>
            <a:endParaRPr lang="en-US" sz="1200" dirty="0"/>
          </a:p>
        </p:txBody>
      </p:sp>
      <p:sp>
        <p:nvSpPr>
          <p:cNvPr id="23" name="Text 20"/>
          <p:cNvSpPr txBox="1"/>
          <p:nvPr/>
        </p:nvSpPr>
        <p:spPr>
          <a:xfrm>
            <a:off x="6519672" y="3383280"/>
            <a:ext cx="1005840" cy="502920"/>
          </a:xfrm>
          <a:prstGeom prst="rect">
            <a:avLst/>
          </a:prstGeom>
          <a:noFill/>
          <a:ln/>
        </p:spPr>
        <p:txBody>
          <a:bodyPr wrap="square" lIns="0" tIns="0" rIns="0" bIns="0" rtlCol="0" anchor="t"/>
          <a:lstStyle/>
          <a:p>
            <a:pPr indent="0" marL="0">
              <a:buNone/>
            </a:pPr>
            <a:r>
              <a:rPr lang="en-US" sz="1400" b="1" dirty="0">
                <a:solidFill>
                  <a:schemeClr val="accent2"/>
                </a:solidFill>
              </a:rPr>
              <a:t>Needs</a:t>
            </a:r>
            <a:endParaRPr lang="en-US" sz="1400" dirty="0"/>
          </a:p>
        </p:txBody>
      </p:sp>
      <p:sp>
        <p:nvSpPr>
          <p:cNvPr id="24" name="Text 21"/>
          <p:cNvSpPr txBox="1"/>
          <p:nvPr/>
        </p:nvSpPr>
        <p:spPr>
          <a:xfrm>
            <a:off x="7571232" y="3383280"/>
            <a:ext cx="3794760" cy="502920"/>
          </a:xfrm>
          <a:prstGeom prst="rect">
            <a:avLst/>
          </a:prstGeom>
          <a:noFill/>
          <a:ln/>
        </p:spPr>
        <p:txBody>
          <a:bodyPr wrap="square" lIns="0" tIns="0" rIns="0" bIns="0" rtlCol="0" anchor="t"/>
          <a:lstStyle/>
          <a:p>
            <a:pPr indent="0" marL="0">
              <a:buNone/>
            </a:pPr>
            <a:r>
              <a:rPr lang="en-US" sz="1400" dirty="0">
                <a:solidFill>
                  <a:schemeClr val="tx1"/>
                </a:solidFill>
              </a:rPr>
              <a:t>subject knowledge and coding skill (Python, LaTeX)</a:t>
            </a:r>
            <a:endParaRPr lang="en-US" sz="1400" dirty="0"/>
          </a:p>
        </p:txBody>
      </p:sp>
      <p:sp>
        <p:nvSpPr>
          <p:cNvPr id="25" name="Text 22"/>
          <p:cNvSpPr txBox="1"/>
          <p:nvPr/>
        </p:nvSpPr>
        <p:spPr>
          <a:xfrm>
            <a:off x="6519672" y="3950208"/>
            <a:ext cx="1005840" cy="502920"/>
          </a:xfrm>
          <a:prstGeom prst="rect">
            <a:avLst/>
          </a:prstGeom>
          <a:noFill/>
          <a:ln/>
        </p:spPr>
        <p:txBody>
          <a:bodyPr wrap="square" lIns="0" tIns="0" rIns="0" bIns="0" rtlCol="0" anchor="t"/>
          <a:lstStyle/>
          <a:p>
            <a:pPr indent="0" marL="0">
              <a:buNone/>
            </a:pPr>
            <a:r>
              <a:rPr lang="en-US" sz="1400" b="1" dirty="0">
                <a:solidFill>
                  <a:schemeClr val="accent2"/>
                </a:solidFill>
              </a:rPr>
              <a:t>How</a:t>
            </a:r>
            <a:endParaRPr lang="en-US" sz="1400" dirty="0"/>
          </a:p>
        </p:txBody>
      </p:sp>
      <p:sp>
        <p:nvSpPr>
          <p:cNvPr id="26" name="Text 23"/>
          <p:cNvSpPr txBox="1"/>
          <p:nvPr/>
        </p:nvSpPr>
        <p:spPr>
          <a:xfrm>
            <a:off x="7571232" y="3950208"/>
            <a:ext cx="3794760" cy="502920"/>
          </a:xfrm>
          <a:prstGeom prst="rect">
            <a:avLst/>
          </a:prstGeom>
          <a:noFill/>
          <a:ln/>
        </p:spPr>
        <p:txBody>
          <a:bodyPr wrap="square" lIns="0" tIns="0" rIns="0" bIns="0" rtlCol="0" anchor="t"/>
          <a:lstStyle/>
          <a:p>
            <a:pPr indent="0" marL="0">
              <a:buNone/>
            </a:pPr>
            <a:r>
              <a:rPr lang="en-US" sz="1400" dirty="0">
                <a:solidFill>
                  <a:schemeClr val="tx1"/>
                </a:solidFill>
              </a:rPr>
              <a:t>animation written as code; the engine computes every position exactly</a:t>
            </a:r>
            <a:endParaRPr lang="en-US" sz="1400" dirty="0"/>
          </a:p>
        </p:txBody>
      </p:sp>
      <p:sp>
        <p:nvSpPr>
          <p:cNvPr id="27" name="Text 24"/>
          <p:cNvSpPr txBox="1"/>
          <p:nvPr/>
        </p:nvSpPr>
        <p:spPr>
          <a:xfrm>
            <a:off x="6519672" y="4517136"/>
            <a:ext cx="1005840" cy="502920"/>
          </a:xfrm>
          <a:prstGeom prst="rect">
            <a:avLst/>
          </a:prstGeom>
          <a:noFill/>
          <a:ln/>
        </p:spPr>
        <p:txBody>
          <a:bodyPr wrap="square" lIns="0" tIns="0" rIns="0" bIns="0" rtlCol="0" anchor="t"/>
          <a:lstStyle/>
          <a:p>
            <a:pPr indent="0" marL="0">
              <a:buNone/>
            </a:pPr>
            <a:r>
              <a:rPr lang="en-US" sz="1400" b="1" dirty="0">
                <a:solidFill>
                  <a:schemeClr val="accent2"/>
                </a:solidFill>
              </a:rPr>
              <a:t>Weak spot</a:t>
            </a:r>
            <a:endParaRPr lang="en-US" sz="1400" dirty="0"/>
          </a:p>
        </p:txBody>
      </p:sp>
      <p:sp>
        <p:nvSpPr>
          <p:cNvPr id="28" name="Text 25"/>
          <p:cNvSpPr txBox="1"/>
          <p:nvPr/>
        </p:nvSpPr>
        <p:spPr>
          <a:xfrm>
            <a:off x="7571232" y="4517136"/>
            <a:ext cx="3794760" cy="502920"/>
          </a:xfrm>
          <a:prstGeom prst="rect">
            <a:avLst/>
          </a:prstGeom>
          <a:noFill/>
          <a:ln/>
        </p:spPr>
        <p:txBody>
          <a:bodyPr wrap="square" lIns="0" tIns="0" rIns="0" bIns="0" rtlCol="0" anchor="t"/>
          <a:lstStyle/>
          <a:p>
            <a:pPr indent="0" marL="0">
              <a:buNone/>
            </a:pPr>
            <a:r>
              <a:rPr lang="en-US" sz="1400" dirty="0">
                <a:solidFill>
                  <a:schemeClr val="tx1"/>
                </a:solidFill>
              </a:rPr>
              <a:t>most teachers can't program, and debugging takes most of the time</a:t>
            </a:r>
            <a:endParaRPr lang="en-US" sz="1400" dirty="0"/>
          </a:p>
        </p:txBody>
      </p:sp>
      <p:sp>
        <p:nvSpPr>
          <p:cNvPr id="29" name="Shape 26"/>
          <p:cNvSpPr/>
          <p:nvPr/>
        </p:nvSpPr>
        <p:spPr>
          <a:xfrm>
            <a:off x="548640" y="5440680"/>
            <a:ext cx="11091672" cy="658368"/>
          </a:xfrm>
          <a:prstGeom prst="roundRect">
            <a:avLst>
              <a:gd name="adj" fmla="val 11111"/>
            </a:avLst>
          </a:prstGeom>
          <a:solidFill>
            <a:srgbClr val="E6F0F8"/>
          </a:solidFill>
          <a:ln w="12700">
            <a:solidFill>
              <a:srgbClr val="8FB6D6"/>
            </a:solidFill>
            <a:prstDash val="solid"/>
          </a:ln>
        </p:spPr>
      </p:sp>
      <p:sp>
        <p:nvSpPr>
          <p:cNvPr id="30" name="Text 27"/>
          <p:cNvSpPr txBox="1"/>
          <p:nvPr/>
        </p:nvSpPr>
        <p:spPr>
          <a:xfrm>
            <a:off x="777240" y="5440680"/>
            <a:ext cx="10698480" cy="658368"/>
          </a:xfrm>
          <a:prstGeom prst="rect">
            <a:avLst/>
          </a:prstGeom>
          <a:noFill/>
          <a:ln/>
        </p:spPr>
        <p:txBody>
          <a:bodyPr wrap="square" lIns="0" tIns="0" rIns="0" bIns="0" rtlCol="0" anchor="ctr"/>
          <a:lstStyle/>
          <a:p>
            <a:pPr indent="0" marL="0">
              <a:buNone/>
            </a:pPr>
            <a:r>
              <a:rPr lang="en-US" sz="1500" b="1" dirty="0">
                <a:solidFill>
                  <a:schemeClr val="accent1"/>
                </a:solidFill>
              </a:rPr>
              <a:t>The gap: </a:t>
            </a:r>
            <a:pPr indent="0" marL="0">
              <a:buNone/>
            </a:pPr>
            <a:r>
              <a:rPr lang="en-US" sz="1500" dirty="0">
                <a:solidFill>
                  <a:schemeClr val="tx1"/>
                </a:solidFill>
              </a:rPr>
              <a:t>code libraries make exact animations cheap, but only for people who can program. MANImation Studio lets the AI write that code: our real run cost </a:t>
            </a:r>
            <a:pPr indent="0" marL="0">
              <a:buNone/>
            </a:pPr>
            <a:r>
              <a:rPr lang="en-US" sz="1500" b="1" dirty="0">
                <a:solidFill>
                  <a:schemeClr val="tx1"/>
                </a:solidFill>
              </a:rPr>
              <a:t>$0.073 for a 68-second narrated video.</a:t>
            </a:r>
            <a:endParaRPr lang="en-US" sz="1500" dirty="0"/>
          </a:p>
        </p:txBody>
      </p:sp>
      <p:sp>
        <p:nvSpPr>
          <p:cNvPr id="31" name="Text 28"/>
          <p:cNvSpPr txBox="1"/>
          <p:nvPr/>
        </p:nvSpPr>
        <p:spPr>
          <a:xfrm>
            <a:off x="548640" y="6144768"/>
            <a:ext cx="8686800" cy="228600"/>
          </a:xfrm>
          <a:prstGeom prst="rect">
            <a:avLst/>
          </a:prstGeom>
          <a:noFill/>
          <a:ln/>
        </p:spPr>
        <p:txBody>
          <a:bodyPr wrap="square" lIns="0" tIns="0" rIns="0" bIns="0" rtlCol="0" anchor="t"/>
          <a:lstStyle/>
          <a:p>
            <a:pPr indent="0" marL="0">
              <a:buNone/>
            </a:pPr>
            <a:r>
              <a:rPr lang="en-US" sz="1000" i="1" dirty="0">
                <a:solidFill>
                  <a:schemeClr val="tx2"/>
                </a:solidFill>
              </a:rPr>
              <a:t>Cost estimates: typical freelance rates for 2D explainer animation and for a Python developer's time.</a:t>
            </a:r>
            <a:endParaRPr lang="en-US" sz="1000" dirty="0"/>
          </a:p>
        </p:txBody>
      </p:sp>
      <p:sp>
        <p:nvSpPr>
          <p:cNvPr id="32"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Why not just ask an AI video generator?</a:t>
            </a:r>
            <a:endParaRPr lang="en-US" sz="3200" dirty="0"/>
          </a:p>
        </p:txBody>
      </p:sp>
      <p:sp>
        <p:nvSpPr>
          <p:cNvPr id="3" name="Text 0"/>
          <p:cNvSpPr txBox="1"/>
          <p:nvPr/>
        </p:nvSpPr>
        <p:spPr>
          <a:xfrm>
            <a:off x="548640" y="1234440"/>
            <a:ext cx="11091672" cy="548640"/>
          </a:xfrm>
          <a:prstGeom prst="rect">
            <a:avLst/>
          </a:prstGeom>
          <a:noFill/>
          <a:ln/>
        </p:spPr>
        <p:txBody>
          <a:bodyPr wrap="square" lIns="0" tIns="0" rIns="0" bIns="0" rtlCol="0" anchor="t"/>
          <a:lstStyle/>
          <a:p>
            <a:pPr indent="0" marL="0">
              <a:buNone/>
            </a:pPr>
            <a:r>
              <a:rPr lang="en-US" sz="1800" dirty="0">
                <a:solidFill>
                  <a:schemeClr val="tx1"/>
                </a:solidFill>
              </a:rPr>
              <a:t>Video models like Sora or Veo learn what videos look like, not what the math means. They predict pixels, so:</a:t>
            </a:r>
            <a:endParaRPr lang="en-US" sz="1800" dirty="0"/>
          </a:p>
        </p:txBody>
      </p:sp>
      <p:sp>
        <p:nvSpPr>
          <p:cNvPr id="4" name="Shape 1"/>
          <p:cNvSpPr/>
          <p:nvPr/>
        </p:nvSpPr>
        <p:spPr>
          <a:xfrm>
            <a:off x="548640" y="1965960"/>
            <a:ext cx="3514344" cy="1965960"/>
          </a:xfrm>
          <a:prstGeom prst="roundRect">
            <a:avLst>
              <a:gd name="adj" fmla="val 4651"/>
            </a:avLst>
          </a:prstGeom>
          <a:solidFill>
            <a:schemeClr val="bg2"/>
          </a:solidFill>
          <a:ln w="12700">
            <a:solidFill>
              <a:schemeClr val="bg2"/>
            </a:solidFill>
            <a:prstDash val="solid"/>
          </a:ln>
        </p:spPr>
      </p:sp>
      <p:sp>
        <p:nvSpPr>
          <p:cNvPr id="5" name="Shape 2"/>
          <p:cNvSpPr/>
          <p:nvPr/>
        </p:nvSpPr>
        <p:spPr>
          <a:xfrm>
            <a:off x="777240" y="2176272"/>
            <a:ext cx="457200" cy="457200"/>
          </a:xfrm>
          <a:prstGeom prst="ellipse">
            <a:avLst/>
          </a:prstGeom>
          <a:solidFill>
            <a:schemeClr val="accent4"/>
          </a:solidFill>
          <a:ln w="12700">
            <a:solidFill>
              <a:schemeClr val="accent4"/>
            </a:solidFill>
            <a:prstDash val="solid"/>
          </a:ln>
        </p:spPr>
      </p:sp>
      <p:sp>
        <p:nvSpPr>
          <p:cNvPr id="6" name="Text 3"/>
          <p:cNvSpPr txBox="1"/>
          <p:nvPr/>
        </p:nvSpPr>
        <p:spPr>
          <a:xfrm>
            <a:off x="777240" y="2176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7" name="Text 4"/>
          <p:cNvSpPr txBox="1"/>
          <p:nvPr/>
        </p:nvSpPr>
        <p:spPr>
          <a:xfrm>
            <a:off x="1371600" y="2176272"/>
            <a:ext cx="2508504" cy="457200"/>
          </a:xfrm>
          <a:prstGeom prst="rect">
            <a:avLst/>
          </a:prstGeom>
          <a:noFill/>
          <a:ln/>
        </p:spPr>
        <p:txBody>
          <a:bodyPr wrap="square" lIns="0" tIns="0" rIns="0" bIns="0" rtlCol="0" anchor="ctr"/>
          <a:lstStyle/>
          <a:p>
            <a:pPr indent="0" marL="0">
              <a:buNone/>
            </a:pPr>
            <a:r>
              <a:rPr lang="en-US" sz="1700" b="1" dirty="0">
                <a:solidFill>
                  <a:schemeClr val="tx1"/>
                </a:solidFill>
              </a:rPr>
              <a:t>Equations come out garbled</a:t>
            </a:r>
            <a:endParaRPr lang="en-US" sz="1700" dirty="0"/>
          </a:p>
        </p:txBody>
      </p:sp>
      <p:sp>
        <p:nvSpPr>
          <p:cNvPr id="8" name="Text 5"/>
          <p:cNvSpPr txBox="1"/>
          <p:nvPr/>
        </p:nvSpPr>
        <p:spPr>
          <a:xfrm>
            <a:off x="777240" y="2788920"/>
            <a:ext cx="3057144" cy="1051560"/>
          </a:xfrm>
          <a:prstGeom prst="rect">
            <a:avLst/>
          </a:prstGeom>
          <a:noFill/>
          <a:ln/>
        </p:spPr>
        <p:txBody>
          <a:bodyPr wrap="square" lIns="0" tIns="0" rIns="0" bIns="0" rtlCol="0" anchor="t"/>
          <a:lstStyle/>
          <a:p>
            <a:pPr indent="0" marL="0">
              <a:buNone/>
            </a:pPr>
            <a:r>
              <a:rPr lang="en-US" sz="1400" dirty="0">
                <a:solidFill>
                  <a:schemeClr val="tx2"/>
                </a:solidFill>
              </a:rPr>
              <a:t>There is no LaTeX inside a video model. “x²” is just a shape it tries to draw, so symbols and labels get mangled.</a:t>
            </a:r>
            <a:endParaRPr lang="en-US" sz="1400" dirty="0"/>
          </a:p>
        </p:txBody>
      </p:sp>
      <p:sp>
        <p:nvSpPr>
          <p:cNvPr id="9" name="Shape 6"/>
          <p:cNvSpPr/>
          <p:nvPr/>
        </p:nvSpPr>
        <p:spPr>
          <a:xfrm>
            <a:off x="4337304" y="1965960"/>
            <a:ext cx="3514344" cy="1965960"/>
          </a:xfrm>
          <a:prstGeom prst="roundRect">
            <a:avLst>
              <a:gd name="adj" fmla="val 4651"/>
            </a:avLst>
          </a:prstGeom>
          <a:solidFill>
            <a:schemeClr val="bg2"/>
          </a:solidFill>
          <a:ln w="12700">
            <a:solidFill>
              <a:schemeClr val="bg2"/>
            </a:solidFill>
            <a:prstDash val="solid"/>
          </a:ln>
        </p:spPr>
      </p:sp>
      <p:sp>
        <p:nvSpPr>
          <p:cNvPr id="10" name="Shape 7"/>
          <p:cNvSpPr/>
          <p:nvPr/>
        </p:nvSpPr>
        <p:spPr>
          <a:xfrm>
            <a:off x="4565904" y="2176272"/>
            <a:ext cx="457200" cy="457200"/>
          </a:xfrm>
          <a:prstGeom prst="ellipse">
            <a:avLst/>
          </a:prstGeom>
          <a:solidFill>
            <a:schemeClr val="accent4"/>
          </a:solidFill>
          <a:ln w="12700">
            <a:solidFill>
              <a:schemeClr val="accent4"/>
            </a:solidFill>
            <a:prstDash val="solid"/>
          </a:ln>
        </p:spPr>
      </p:sp>
      <p:sp>
        <p:nvSpPr>
          <p:cNvPr id="11" name="Text 8"/>
          <p:cNvSpPr txBox="1"/>
          <p:nvPr/>
        </p:nvSpPr>
        <p:spPr>
          <a:xfrm>
            <a:off x="4565904" y="2176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2" name="Text 9"/>
          <p:cNvSpPr txBox="1"/>
          <p:nvPr/>
        </p:nvSpPr>
        <p:spPr>
          <a:xfrm>
            <a:off x="5160264" y="2176272"/>
            <a:ext cx="2508504" cy="457200"/>
          </a:xfrm>
          <a:prstGeom prst="rect">
            <a:avLst/>
          </a:prstGeom>
          <a:noFill/>
          <a:ln/>
        </p:spPr>
        <p:txBody>
          <a:bodyPr wrap="square" lIns="0" tIns="0" rIns="0" bIns="0" rtlCol="0" anchor="ctr"/>
          <a:lstStyle/>
          <a:p>
            <a:pPr indent="0" marL="0">
              <a:buNone/>
            </a:pPr>
            <a:r>
              <a:rPr lang="en-US" sz="1700" b="1" dirty="0">
                <a:solidFill>
                  <a:schemeClr val="tx1"/>
                </a:solidFill>
              </a:rPr>
              <a:t>The math isn't exact</a:t>
            </a:r>
            <a:endParaRPr lang="en-US" sz="1700" dirty="0"/>
          </a:p>
        </p:txBody>
      </p:sp>
      <p:sp>
        <p:nvSpPr>
          <p:cNvPr id="13" name="Text 10"/>
          <p:cNvSpPr txBox="1"/>
          <p:nvPr/>
        </p:nvSpPr>
        <p:spPr>
          <a:xfrm>
            <a:off x="4565904" y="2788920"/>
            <a:ext cx="3057144" cy="1051560"/>
          </a:xfrm>
          <a:prstGeom prst="rect">
            <a:avLst/>
          </a:prstGeom>
          <a:noFill/>
          <a:ln/>
        </p:spPr>
        <p:txBody>
          <a:bodyPr wrap="square" lIns="0" tIns="0" rIns="0" bIns="0" rtlCol="0" anchor="t"/>
          <a:lstStyle/>
          <a:p>
            <a:pPr indent="0" marL="0">
              <a:buNone/>
            </a:pPr>
            <a:r>
              <a:rPr lang="en-US" sz="1400" dirty="0">
                <a:solidFill>
                  <a:schemeClr val="tx2"/>
                </a:solidFill>
              </a:rPr>
              <a:t>A right angle drifts, a curve wobbles between frames. Nothing checks that what is drawn is actually true.</a:t>
            </a:r>
            <a:endParaRPr lang="en-US" sz="1400" dirty="0"/>
          </a:p>
        </p:txBody>
      </p:sp>
      <p:sp>
        <p:nvSpPr>
          <p:cNvPr id="14" name="Shape 11"/>
          <p:cNvSpPr/>
          <p:nvPr/>
        </p:nvSpPr>
        <p:spPr>
          <a:xfrm>
            <a:off x="8125968" y="1965960"/>
            <a:ext cx="3514344" cy="1965960"/>
          </a:xfrm>
          <a:prstGeom prst="roundRect">
            <a:avLst>
              <a:gd name="adj" fmla="val 4651"/>
            </a:avLst>
          </a:prstGeom>
          <a:solidFill>
            <a:schemeClr val="bg2"/>
          </a:solidFill>
          <a:ln w="12700">
            <a:solidFill>
              <a:schemeClr val="bg2"/>
            </a:solidFill>
            <a:prstDash val="solid"/>
          </a:ln>
        </p:spPr>
      </p:sp>
      <p:sp>
        <p:nvSpPr>
          <p:cNvPr id="15" name="Shape 12"/>
          <p:cNvSpPr/>
          <p:nvPr/>
        </p:nvSpPr>
        <p:spPr>
          <a:xfrm>
            <a:off x="8354568" y="2176272"/>
            <a:ext cx="457200" cy="457200"/>
          </a:xfrm>
          <a:prstGeom prst="ellipse">
            <a:avLst/>
          </a:prstGeom>
          <a:solidFill>
            <a:schemeClr val="accent4"/>
          </a:solidFill>
          <a:ln w="12700">
            <a:solidFill>
              <a:schemeClr val="accent4"/>
            </a:solidFill>
            <a:prstDash val="solid"/>
          </a:ln>
        </p:spPr>
      </p:sp>
      <p:sp>
        <p:nvSpPr>
          <p:cNvPr id="16" name="Text 13"/>
          <p:cNvSpPr txBox="1"/>
          <p:nvPr/>
        </p:nvSpPr>
        <p:spPr>
          <a:xfrm>
            <a:off x="8354568" y="2176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7" name="Text 14"/>
          <p:cNvSpPr txBox="1"/>
          <p:nvPr/>
        </p:nvSpPr>
        <p:spPr>
          <a:xfrm>
            <a:off x="8948928" y="2176272"/>
            <a:ext cx="2508504" cy="457200"/>
          </a:xfrm>
          <a:prstGeom prst="rect">
            <a:avLst/>
          </a:prstGeom>
          <a:noFill/>
          <a:ln/>
        </p:spPr>
        <p:txBody>
          <a:bodyPr wrap="square" lIns="0" tIns="0" rIns="0" bIns="0" rtlCol="0" anchor="ctr"/>
          <a:lstStyle/>
          <a:p>
            <a:pPr indent="0" marL="0">
              <a:buNone/>
            </a:pPr>
            <a:r>
              <a:rPr lang="en-US" sz="1700" b="1" dirty="0">
                <a:solidFill>
                  <a:schemeClr val="tx1"/>
                </a:solidFill>
              </a:rPr>
              <a:t>You can't fix one detail</a:t>
            </a:r>
            <a:endParaRPr lang="en-US" sz="1700" dirty="0"/>
          </a:p>
        </p:txBody>
      </p:sp>
      <p:sp>
        <p:nvSpPr>
          <p:cNvPr id="18" name="Text 15"/>
          <p:cNvSpPr txBox="1"/>
          <p:nvPr/>
        </p:nvSpPr>
        <p:spPr>
          <a:xfrm>
            <a:off x="8354568" y="2788920"/>
            <a:ext cx="3057144" cy="1051560"/>
          </a:xfrm>
          <a:prstGeom prst="rect">
            <a:avLst/>
          </a:prstGeom>
          <a:noFill/>
          <a:ln/>
        </p:spPr>
        <p:txBody>
          <a:bodyPr wrap="square" lIns="0" tIns="0" rIns="0" bIns="0" rtlCol="0" anchor="t"/>
          <a:lstStyle/>
          <a:p>
            <a:pPr indent="0" marL="0">
              <a:buNone/>
            </a:pPr>
            <a:r>
              <a:rPr lang="en-US" sz="1400" dirty="0">
                <a:solidFill>
                  <a:schemeClr val="tx2"/>
                </a:solidFill>
              </a:rPr>
              <a:t>Change one number and the whole clip is regenerated, and it looks different. Clips are also short and not synced to narration.</a:t>
            </a:r>
            <a:endParaRPr lang="en-US" sz="1400" dirty="0"/>
          </a:p>
        </p:txBody>
      </p:sp>
      <p:sp>
        <p:nvSpPr>
          <p:cNvPr id="19" name="Shape 16"/>
          <p:cNvSpPr/>
          <p:nvPr/>
        </p:nvSpPr>
        <p:spPr>
          <a:xfrm>
            <a:off x="548640" y="4206240"/>
            <a:ext cx="5257800" cy="1051560"/>
          </a:xfrm>
          <a:prstGeom prst="roundRect">
            <a:avLst>
              <a:gd name="adj" fmla="val 6957"/>
            </a:avLst>
          </a:prstGeom>
          <a:solidFill>
            <a:srgbClr val="FBECE6"/>
          </a:solidFill>
          <a:ln w="12700">
            <a:solidFill>
              <a:srgbClr val="E4A58C"/>
            </a:solidFill>
            <a:prstDash val="solid"/>
          </a:ln>
        </p:spPr>
      </p:sp>
      <p:sp>
        <p:nvSpPr>
          <p:cNvPr id="20" name="Text 17"/>
          <p:cNvSpPr txBox="1"/>
          <p:nvPr/>
        </p:nvSpPr>
        <p:spPr>
          <a:xfrm>
            <a:off x="777240" y="4206240"/>
            <a:ext cx="4800600" cy="1051560"/>
          </a:xfrm>
          <a:prstGeom prst="rect">
            <a:avLst/>
          </a:prstGeom>
          <a:noFill/>
          <a:ln/>
        </p:spPr>
        <p:txBody>
          <a:bodyPr wrap="square" lIns="0" tIns="0" rIns="0" bIns="0" rtlCol="0" anchor="ctr"/>
          <a:lstStyle/>
          <a:p>
            <a:pPr indent="0" marL="0">
              <a:buNone/>
            </a:pPr>
            <a:r>
              <a:rPr lang="en-US" sz="1500" b="1" dirty="0">
                <a:solidFill>
                  <a:schemeClr val="accent4"/>
                </a:solidFill>
              </a:rPr>
              <a:t>AI video model</a:t>
            </a:r>
            <a:endParaRPr lang="en-US" sz="1500" dirty="0"/>
          </a:p>
          <a:p>
            <a:pPr indent="0" marL="0">
              <a:buNone/>
            </a:pPr>
            <a:r>
              <a:rPr lang="en-US" sz="1500" dirty="0">
                <a:solidFill>
                  <a:schemeClr val="tx1"/>
                </a:solidFill>
              </a:rPr>
              <a:t>Prompt → guesses pixels, frame by frame → a video that only looks right</a:t>
            </a:r>
            <a:endParaRPr lang="en-US" sz="1500" dirty="0"/>
          </a:p>
        </p:txBody>
      </p:sp>
      <p:sp>
        <p:nvSpPr>
          <p:cNvPr id="21" name="Text 18"/>
          <p:cNvSpPr txBox="1"/>
          <p:nvPr/>
        </p:nvSpPr>
        <p:spPr>
          <a:xfrm>
            <a:off x="5806440" y="4206240"/>
            <a:ext cx="576072" cy="1051560"/>
          </a:xfrm>
          <a:prstGeom prst="rect">
            <a:avLst/>
          </a:prstGeom>
          <a:noFill/>
          <a:ln/>
        </p:spPr>
        <p:txBody>
          <a:bodyPr wrap="square" lIns="0" tIns="0" rIns="0" bIns="0" rtlCol="0" anchor="ctr"/>
          <a:lstStyle/>
          <a:p>
            <a:pPr algn="ctr" indent="0" marL="0">
              <a:buNone/>
            </a:pPr>
            <a:r>
              <a:rPr lang="en-US" sz="1600" b="1" dirty="0">
                <a:solidFill>
                  <a:schemeClr val="tx2"/>
                </a:solidFill>
              </a:rPr>
              <a:t>vs</a:t>
            </a:r>
            <a:endParaRPr lang="en-US" sz="1600" dirty="0"/>
          </a:p>
        </p:txBody>
      </p:sp>
      <p:sp>
        <p:nvSpPr>
          <p:cNvPr id="22" name="Shape 19"/>
          <p:cNvSpPr/>
          <p:nvPr/>
        </p:nvSpPr>
        <p:spPr>
          <a:xfrm>
            <a:off x="6382512" y="4206240"/>
            <a:ext cx="5257800" cy="1051560"/>
          </a:xfrm>
          <a:prstGeom prst="roundRect">
            <a:avLst>
              <a:gd name="adj" fmla="val 6957"/>
            </a:avLst>
          </a:prstGeom>
          <a:solidFill>
            <a:srgbClr val="E8F3E9"/>
          </a:solidFill>
          <a:ln w="12700">
            <a:solidFill>
              <a:srgbClr val="9CC79F"/>
            </a:solidFill>
            <a:prstDash val="solid"/>
          </a:ln>
        </p:spPr>
      </p:sp>
      <p:sp>
        <p:nvSpPr>
          <p:cNvPr id="23" name="Text 20"/>
          <p:cNvSpPr txBox="1"/>
          <p:nvPr/>
        </p:nvSpPr>
        <p:spPr>
          <a:xfrm>
            <a:off x="6611112" y="4206240"/>
            <a:ext cx="4800600" cy="1051560"/>
          </a:xfrm>
          <a:prstGeom prst="rect">
            <a:avLst/>
          </a:prstGeom>
          <a:noFill/>
          <a:ln/>
        </p:spPr>
        <p:txBody>
          <a:bodyPr wrap="square" lIns="0" tIns="0" rIns="0" bIns="0" rtlCol="0" anchor="ctr"/>
          <a:lstStyle/>
          <a:p>
            <a:pPr indent="0" marL="0">
              <a:buNone/>
            </a:pPr>
            <a:r>
              <a:rPr lang="en-US" sz="1500" b="1" dirty="0">
                <a:solidFill>
                  <a:schemeClr val="accent2"/>
                </a:solidFill>
              </a:rPr>
              <a:t>MANImation Studio</a:t>
            </a:r>
            <a:endParaRPr lang="en-US" sz="1500" dirty="0"/>
          </a:p>
          <a:p>
            <a:pPr indent="0" marL="0">
              <a:buNone/>
            </a:pPr>
            <a:r>
              <a:rPr lang="en-US" sz="1500" dirty="0">
                <a:solidFill>
                  <a:schemeClr val="tx1"/>
                </a:solidFill>
              </a:rPr>
              <a:t>Prompt → AI writes Manim code → the engine draws it with exact geometry and LaTeX</a:t>
            </a:r>
            <a:endParaRPr lang="en-US" sz="1500" dirty="0"/>
          </a:p>
        </p:txBody>
      </p:sp>
      <p:sp>
        <p:nvSpPr>
          <p:cNvPr id="24" name="Text 21"/>
          <p:cNvSpPr txBox="1"/>
          <p:nvPr/>
        </p:nvSpPr>
        <p:spPr>
          <a:xfrm>
            <a:off x="548640" y="5486400"/>
            <a:ext cx="11091672" cy="411480"/>
          </a:xfrm>
          <a:prstGeom prst="rect">
            <a:avLst/>
          </a:prstGeom>
          <a:noFill/>
          <a:ln/>
        </p:spPr>
        <p:txBody>
          <a:bodyPr wrap="square" lIns="0" tIns="0" rIns="0" bIns="0" rtlCol="0" anchor="ctr"/>
          <a:lstStyle/>
          <a:p>
            <a:pPr indent="0" marL="0">
              <a:buNone/>
            </a:pPr>
            <a:r>
              <a:rPr lang="en-US" sz="1700" b="1" dirty="0">
                <a:solidFill>
                  <a:schemeClr val="accent2"/>
                </a:solidFill>
              </a:rPr>
              <a:t>Our choice: the AI writes code, and a real math engine draws every frame: exact, checkable, editable.</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Our idea: describe it, review it, get the video</a:t>
            </a:r>
            <a:endParaRPr lang="en-US" sz="3200" dirty="0"/>
          </a:p>
        </p:txBody>
      </p:sp>
      <p:sp>
        <p:nvSpPr>
          <p:cNvPr id="3" name="Flow 1 number"/>
          <p:cNvSpPr/>
          <p:nvPr/>
        </p:nvSpPr>
        <p:spPr>
          <a:xfrm>
            <a:off x="548640" y="1463040"/>
            <a:ext cx="548640" cy="548640"/>
          </a:xfrm>
          <a:prstGeom prst="ellipse">
            <a:avLst/>
          </a:prstGeom>
          <a:solidFill>
            <a:schemeClr val="accent1"/>
          </a:solidFill>
          <a:ln w="12700">
            <a:solidFill>
              <a:schemeClr val="accent1"/>
            </a:solidFill>
            <a:prstDash val="solid"/>
          </a:ln>
        </p:spPr>
      </p:sp>
      <p:sp>
        <p:nvSpPr>
          <p:cNvPr id="4" name="Text 2"/>
          <p:cNvSpPr txBox="1"/>
          <p:nvPr/>
        </p:nvSpPr>
        <p:spPr>
          <a:xfrm>
            <a:off x="548640" y="1463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1325880" y="1444752"/>
            <a:ext cx="3931920" cy="411480"/>
          </a:xfrm>
          <a:prstGeom prst="rect">
            <a:avLst/>
          </a:prstGeom>
          <a:noFill/>
          <a:ln/>
        </p:spPr>
        <p:txBody>
          <a:bodyPr wrap="square" lIns="0" tIns="0" rIns="0" bIns="0" rtlCol="0" anchor="t"/>
          <a:lstStyle/>
          <a:p>
            <a:pPr indent="0" marL="0">
              <a:buNone/>
            </a:pPr>
            <a:r>
              <a:rPr lang="en-US" sz="2000" b="1" dirty="0">
                <a:solidFill>
                  <a:schemeClr val="tx1"/>
                </a:solidFill>
              </a:rPr>
              <a:t>Describe</a:t>
            </a:r>
            <a:endParaRPr lang="en-US" sz="2000" dirty="0"/>
          </a:p>
        </p:txBody>
      </p:sp>
      <p:sp>
        <p:nvSpPr>
          <p:cNvPr id="6" name="Text 4"/>
          <p:cNvSpPr txBox="1"/>
          <p:nvPr/>
        </p:nvSpPr>
        <p:spPr>
          <a:xfrm>
            <a:off x="1325880" y="1874520"/>
            <a:ext cx="3931920" cy="777240"/>
          </a:xfrm>
          <a:prstGeom prst="rect">
            <a:avLst/>
          </a:prstGeom>
          <a:noFill/>
          <a:ln/>
        </p:spPr>
        <p:txBody>
          <a:bodyPr wrap="square" lIns="0" tIns="0" rIns="0" bIns="0" rtlCol="0" anchor="t"/>
          <a:lstStyle/>
          <a:p>
            <a:pPr indent="0" marL="0">
              <a:buNone/>
            </a:pPr>
            <a:r>
              <a:rPr lang="en-US" sz="1500" dirty="0">
                <a:solidFill>
                  <a:schemeClr val="tx2"/>
                </a:solidFill>
              </a:rPr>
              <a:t>Type one sentence and choose a color theme, the audience and a budget.</a:t>
            </a:r>
            <a:endParaRPr lang="en-US" sz="1500" dirty="0"/>
          </a:p>
        </p:txBody>
      </p:sp>
      <p:sp>
        <p:nvSpPr>
          <p:cNvPr id="7" name="Flow 2 number"/>
          <p:cNvSpPr/>
          <p:nvPr/>
        </p:nvSpPr>
        <p:spPr>
          <a:xfrm>
            <a:off x="548640" y="2926080"/>
            <a:ext cx="548640" cy="548640"/>
          </a:xfrm>
          <a:prstGeom prst="ellipse">
            <a:avLst/>
          </a:prstGeom>
          <a:solidFill>
            <a:schemeClr val="accent1"/>
          </a:solidFill>
          <a:ln w="12700">
            <a:solidFill>
              <a:schemeClr val="accent1"/>
            </a:solidFill>
            <a:prstDash val="solid"/>
          </a:ln>
        </p:spPr>
      </p:sp>
      <p:sp>
        <p:nvSpPr>
          <p:cNvPr id="8" name="Text 6"/>
          <p:cNvSpPr txBox="1"/>
          <p:nvPr/>
        </p:nvSpPr>
        <p:spPr>
          <a:xfrm>
            <a:off x="548640" y="29260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 7"/>
          <p:cNvSpPr txBox="1"/>
          <p:nvPr/>
        </p:nvSpPr>
        <p:spPr>
          <a:xfrm>
            <a:off x="1325880" y="2907792"/>
            <a:ext cx="3931920" cy="411480"/>
          </a:xfrm>
          <a:prstGeom prst="rect">
            <a:avLst/>
          </a:prstGeom>
          <a:noFill/>
          <a:ln/>
        </p:spPr>
        <p:txBody>
          <a:bodyPr wrap="square" lIns="0" tIns="0" rIns="0" bIns="0" rtlCol="0" anchor="t"/>
          <a:lstStyle/>
          <a:p>
            <a:pPr indent="0" marL="0">
              <a:buNone/>
            </a:pPr>
            <a:r>
              <a:rPr lang="en-US" sz="2000" b="1" dirty="0">
                <a:solidFill>
                  <a:schemeClr val="tx1"/>
                </a:solidFill>
              </a:rPr>
              <a:t>Review</a:t>
            </a:r>
            <a:endParaRPr lang="en-US" sz="2000" dirty="0"/>
          </a:p>
        </p:txBody>
      </p:sp>
      <p:sp>
        <p:nvSpPr>
          <p:cNvPr id="10" name="Text 8"/>
          <p:cNvSpPr txBox="1"/>
          <p:nvPr/>
        </p:nvSpPr>
        <p:spPr>
          <a:xfrm>
            <a:off x="1325880" y="3337560"/>
            <a:ext cx="3931920" cy="777240"/>
          </a:xfrm>
          <a:prstGeom prst="rect">
            <a:avLst/>
          </a:prstGeom>
          <a:noFill/>
          <a:ln/>
        </p:spPr>
        <p:txBody>
          <a:bodyPr wrap="square" lIns="0" tIns="0" rIns="0" bIns="0" rtlCol="0" anchor="t"/>
          <a:lstStyle/>
          <a:p>
            <a:pPr indent="0" marL="0">
              <a:buNone/>
            </a:pPr>
            <a:r>
              <a:rPr lang="en-US" sz="1500" dirty="0">
                <a:solidFill>
                  <a:schemeClr val="tx2"/>
                </a:solidFill>
              </a:rPr>
              <a:t>Read the storyboard the AI planned and edit any narration or visual before code is written.</a:t>
            </a:r>
            <a:endParaRPr lang="en-US" sz="1500" dirty="0"/>
          </a:p>
        </p:txBody>
      </p:sp>
      <p:sp>
        <p:nvSpPr>
          <p:cNvPr id="11" name="Flow 3 number"/>
          <p:cNvSpPr/>
          <p:nvPr/>
        </p:nvSpPr>
        <p:spPr>
          <a:xfrm>
            <a:off x="548640" y="4389120"/>
            <a:ext cx="548640" cy="548640"/>
          </a:xfrm>
          <a:prstGeom prst="ellipse">
            <a:avLst/>
          </a:prstGeom>
          <a:solidFill>
            <a:schemeClr val="accent1"/>
          </a:solidFill>
          <a:ln w="12700">
            <a:solidFill>
              <a:schemeClr val="accent1"/>
            </a:solidFill>
            <a:prstDash val="solid"/>
          </a:ln>
        </p:spPr>
      </p:sp>
      <p:sp>
        <p:nvSpPr>
          <p:cNvPr id="12" name="Text 10"/>
          <p:cNvSpPr txBox="1"/>
          <p:nvPr/>
        </p:nvSpPr>
        <p:spPr>
          <a:xfrm>
            <a:off x="548640" y="43891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ext 11"/>
          <p:cNvSpPr txBox="1"/>
          <p:nvPr/>
        </p:nvSpPr>
        <p:spPr>
          <a:xfrm>
            <a:off x="1325880" y="4370832"/>
            <a:ext cx="3931920" cy="411480"/>
          </a:xfrm>
          <a:prstGeom prst="rect">
            <a:avLst/>
          </a:prstGeom>
          <a:noFill/>
          <a:ln/>
        </p:spPr>
        <p:txBody>
          <a:bodyPr wrap="square" lIns="0" tIns="0" rIns="0" bIns="0" rtlCol="0" anchor="t"/>
          <a:lstStyle/>
          <a:p>
            <a:pPr indent="0" marL="0">
              <a:buNone/>
            </a:pPr>
            <a:r>
              <a:rPr lang="en-US" sz="2000" b="1" dirty="0">
                <a:solidFill>
                  <a:schemeClr val="tx1"/>
                </a:solidFill>
              </a:rPr>
              <a:t>Receive</a:t>
            </a:r>
            <a:endParaRPr lang="en-US" sz="2000" dirty="0"/>
          </a:p>
        </p:txBody>
      </p:sp>
      <p:sp>
        <p:nvSpPr>
          <p:cNvPr id="14" name="Text 12"/>
          <p:cNvSpPr txBox="1"/>
          <p:nvPr/>
        </p:nvSpPr>
        <p:spPr>
          <a:xfrm>
            <a:off x="1325880" y="4800600"/>
            <a:ext cx="3931920" cy="777240"/>
          </a:xfrm>
          <a:prstGeom prst="rect">
            <a:avLst/>
          </a:prstGeom>
          <a:noFill/>
          <a:ln/>
        </p:spPr>
        <p:txBody>
          <a:bodyPr wrap="square" lIns="0" tIns="0" rIns="0" bIns="0" rtlCol="0" anchor="t"/>
          <a:lstStyle/>
          <a:p>
            <a:pPr indent="0" marL="0">
              <a:buNone/>
            </a:pPr>
            <a:r>
              <a:rPr lang="en-US" sz="1500" dirty="0">
                <a:solidFill>
                  <a:schemeClr val="tx2"/>
                </a:solidFill>
              </a:rPr>
              <a:t>Watch and download the narrated video, plus the Manim code for every scene.</a:t>
            </a:r>
            <a:endParaRPr lang="en-US" sz="1500" dirty="0"/>
          </a:p>
        </p:txBody>
      </p:sp>
      <p:pic>
        <p:nvPicPr>
          <p:cNvPr id="15" name="Storyboard screenshot" descr="/Users/dhup/Projects/manimation/docs/presentation/images/ui-storyboard-top.png">    </p:cNvPr>
          <p:cNvPicPr>
            <a:picLocks noChangeAspect="1"/>
          </p:cNvPicPr>
          <p:nvPr/>
        </p:nvPicPr>
        <p:blipFill>
          <a:blip r:embed="rId1"/>
          <a:stretch>
            <a:fillRect/>
          </a:stretch>
        </p:blipFill>
        <p:spPr>
          <a:xfrm>
            <a:off x="5669280" y="1662351"/>
            <a:ext cx="5943600" cy="3807619"/>
          </a:xfrm>
          <a:prstGeom prst="rect">
            <a:avLst/>
          </a:prstGeom>
        </p:spPr>
      </p:pic>
      <p:sp>
        <p:nvSpPr>
          <p:cNvPr id="16" name="Screenshot frame"/>
          <p:cNvSpPr/>
          <p:nvPr/>
        </p:nvSpPr>
        <p:spPr>
          <a:xfrm>
            <a:off x="5669280" y="1662351"/>
            <a:ext cx="5943600" cy="3807619"/>
          </a:xfrm>
          <a:prstGeom prst="rect">
            <a:avLst/>
          </a:prstGeom>
          <a:ln w="12700">
            <a:solidFill>
              <a:srgbClr val="D1D5DB"/>
            </a:solidFill>
            <a:prstDash val="solid"/>
          </a:ln>
        </p:spPr>
      </p:sp>
      <p:sp>
        <p:nvSpPr>
          <p:cNvPr id="17" name="Text 14"/>
          <p:cNvSpPr txBox="1"/>
          <p:nvPr/>
        </p:nvSpPr>
        <p:spPr>
          <a:xfrm>
            <a:off x="5669280" y="5561409"/>
            <a:ext cx="5943600" cy="320040"/>
          </a:xfrm>
          <a:prstGeom prst="rect">
            <a:avLst/>
          </a:prstGeom>
          <a:noFill/>
          <a:ln/>
        </p:spPr>
        <p:txBody>
          <a:bodyPr wrap="square" lIns="0" tIns="0" rIns="0" bIns="0" rtlCol="0" anchor="t"/>
          <a:lstStyle/>
          <a:p>
            <a:pPr algn="ctr" indent="0" marL="0">
              <a:buNone/>
            </a:pPr>
            <a:r>
              <a:rPr lang="en-US" sz="1200" dirty="0">
                <a:solidFill>
                  <a:schemeClr val="tx2"/>
                </a:solidFill>
              </a:rPr>
              <a:t>The storyboard review screen of the web app</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Architecture: how everything fits together</a:t>
            </a:r>
            <a:endParaRPr lang="en-US" sz="3200" dirty="0"/>
          </a:p>
        </p:txBody>
      </p:sp>
      <p:sp>
        <p:nvSpPr>
          <p:cNvPr id="3" name="Shape 0"/>
          <p:cNvSpPr/>
          <p:nvPr/>
        </p:nvSpPr>
        <p:spPr>
          <a:xfrm>
            <a:off x="548640" y="1188720"/>
            <a:ext cx="11091672" cy="640080"/>
          </a:xfrm>
          <a:prstGeom prst="roundRect">
            <a:avLst>
              <a:gd name="adj" fmla="val 11429"/>
            </a:avLst>
          </a:prstGeom>
          <a:solidFill>
            <a:srgbClr val="FBF3E2"/>
          </a:solidFill>
          <a:ln w="12700">
            <a:solidFill>
              <a:srgbClr val="E2C281"/>
            </a:solidFill>
            <a:prstDash val="solid"/>
          </a:ln>
        </p:spPr>
      </p:sp>
      <p:sp>
        <p:nvSpPr>
          <p:cNvPr id="4" name="Text 1"/>
          <p:cNvSpPr txBox="1"/>
          <p:nvPr/>
        </p:nvSpPr>
        <p:spPr>
          <a:xfrm>
            <a:off x="777240" y="1188720"/>
            <a:ext cx="4206240" cy="640080"/>
          </a:xfrm>
          <a:prstGeom prst="rect">
            <a:avLst/>
          </a:prstGeom>
          <a:noFill/>
          <a:ln/>
        </p:spPr>
        <p:txBody>
          <a:bodyPr wrap="square" lIns="0" tIns="0" rIns="0" bIns="0" rtlCol="0" anchor="ctr"/>
          <a:lstStyle/>
          <a:p>
            <a:pPr indent="0" marL="0">
              <a:buNone/>
            </a:pPr>
            <a:r>
              <a:rPr lang="en-US" sz="1500" b="1" dirty="0">
                <a:solidFill>
                  <a:schemeClr val="tx1"/>
                </a:solidFill>
              </a:rPr>
              <a:t>Web app  </a:t>
            </a:r>
            <a:pPr indent="0" marL="0">
              <a:buNone/>
            </a:pPr>
            <a:r>
              <a:rPr lang="en-US" sz="1500" dirty="0">
                <a:solidFill>
                  <a:schemeClr val="tx2"/>
                </a:solidFill>
              </a:rPr>
              <a:t>React 19 · Vite · TypeScript</a:t>
            </a:r>
            <a:endParaRPr lang="en-US" sz="1500" dirty="0"/>
          </a:p>
        </p:txBody>
      </p:sp>
      <p:sp>
        <p:nvSpPr>
          <p:cNvPr id="5" name="Text 2"/>
          <p:cNvSpPr txBox="1"/>
          <p:nvPr/>
        </p:nvSpPr>
        <p:spPr>
          <a:xfrm>
            <a:off x="4846320" y="1188720"/>
            <a:ext cx="6629400" cy="640080"/>
          </a:xfrm>
          <a:prstGeom prst="rect">
            <a:avLst/>
          </a:prstGeom>
          <a:noFill/>
          <a:ln/>
        </p:spPr>
        <p:txBody>
          <a:bodyPr wrap="square" lIns="0" tIns="0" rIns="0" bIns="0" rtlCol="0" anchor="ctr"/>
          <a:lstStyle/>
          <a:p>
            <a:pPr algn="r" indent="0" marL="0">
              <a:buNone/>
            </a:pPr>
            <a:r>
              <a:rPr lang="en-US" sz="1300" dirty="0">
                <a:solidFill>
                  <a:schemeClr val="tx1"/>
                </a:solidFill>
              </a:rPr>
              <a:t>Create prompt  →  Review &amp; edit storyboard  →  Live progress  →  Watch, download video + code</a:t>
            </a:r>
            <a:endParaRPr lang="en-US" sz="1300" dirty="0"/>
          </a:p>
        </p:txBody>
      </p:sp>
      <p:sp>
        <p:nvSpPr>
          <p:cNvPr id="6" name="Shape 3"/>
          <p:cNvSpPr/>
          <p:nvPr/>
        </p:nvSpPr>
        <p:spPr>
          <a:xfrm>
            <a:off x="5989320" y="1828800"/>
            <a:ext cx="0" cy="320040"/>
          </a:xfrm>
          <a:prstGeom prst="line">
            <a:avLst/>
          </a:prstGeom>
          <a:noFill/>
          <a:ln w="15875">
            <a:solidFill>
              <a:srgbClr val="6B7280"/>
            </a:solidFill>
            <a:prstDash val="solid"/>
            <a:tailEnd type="triangle"/>
          </a:ln>
        </p:spPr>
      </p:sp>
      <p:sp>
        <p:nvSpPr>
          <p:cNvPr id="7" name="Shape 4"/>
          <p:cNvSpPr/>
          <p:nvPr/>
        </p:nvSpPr>
        <p:spPr>
          <a:xfrm flipV="1">
            <a:off x="6172200" y="1828800"/>
            <a:ext cx="0" cy="320040"/>
          </a:xfrm>
          <a:prstGeom prst="line">
            <a:avLst/>
          </a:prstGeom>
          <a:noFill/>
          <a:ln w="15875">
            <a:solidFill>
              <a:srgbClr val="6B7280"/>
            </a:solidFill>
            <a:prstDash val="solid"/>
            <a:tailEnd type="triangle"/>
          </a:ln>
        </p:spPr>
      </p:sp>
      <p:sp>
        <p:nvSpPr>
          <p:cNvPr id="8" name="Text 5"/>
          <p:cNvSpPr txBox="1"/>
          <p:nvPr/>
        </p:nvSpPr>
        <p:spPr>
          <a:xfrm>
            <a:off x="6355080" y="1865376"/>
            <a:ext cx="3200400" cy="256032"/>
          </a:xfrm>
          <a:prstGeom prst="rect">
            <a:avLst/>
          </a:prstGeom>
          <a:noFill/>
          <a:ln/>
        </p:spPr>
        <p:txBody>
          <a:bodyPr wrap="square" lIns="0" tIns="0" rIns="0" bIns="0" rtlCol="0" anchor="ctr"/>
          <a:lstStyle/>
          <a:p>
            <a:pPr indent="0" marL="0">
              <a:buNone/>
            </a:pPr>
            <a:r>
              <a:rPr lang="en-US" sz="1100" dirty="0">
                <a:solidFill>
                  <a:schemeClr val="tx2"/>
                </a:solidFill>
              </a:rPr>
              <a:t>REST + WebSocket (live events)</a:t>
            </a:r>
            <a:endParaRPr lang="en-US" sz="1100" dirty="0"/>
          </a:p>
        </p:txBody>
      </p:sp>
      <p:sp>
        <p:nvSpPr>
          <p:cNvPr id="9" name="Shape 6"/>
          <p:cNvSpPr/>
          <p:nvPr/>
        </p:nvSpPr>
        <p:spPr>
          <a:xfrm>
            <a:off x="548640" y="2148840"/>
            <a:ext cx="11091672" cy="2697480"/>
          </a:xfrm>
          <a:prstGeom prst="roundRect">
            <a:avLst>
              <a:gd name="adj" fmla="val 2034"/>
            </a:avLst>
          </a:prstGeom>
          <a:solidFill>
            <a:schemeClr val="bg1"/>
          </a:solidFill>
          <a:ln w="12700">
            <a:solidFill>
              <a:srgbClr val="9CA3AF"/>
            </a:solidFill>
            <a:prstDash val="dash"/>
          </a:ln>
        </p:spPr>
      </p:sp>
      <p:sp>
        <p:nvSpPr>
          <p:cNvPr id="10" name="Text 7"/>
          <p:cNvSpPr txBox="1"/>
          <p:nvPr/>
        </p:nvSpPr>
        <p:spPr>
          <a:xfrm>
            <a:off x="777240" y="2240280"/>
            <a:ext cx="7315200" cy="292608"/>
          </a:xfrm>
          <a:prstGeom prst="rect">
            <a:avLst/>
          </a:prstGeom>
          <a:noFill/>
          <a:ln/>
        </p:spPr>
        <p:txBody>
          <a:bodyPr wrap="square" lIns="0" tIns="0" rIns="0" bIns="0" rtlCol="0" anchor="ctr"/>
          <a:lstStyle/>
          <a:p>
            <a:pPr indent="0" marL="0">
              <a:buNone/>
            </a:pPr>
            <a:r>
              <a:rPr lang="en-US" sz="1300" b="1" dirty="0">
                <a:solidFill>
                  <a:schemeClr val="tx1"/>
                </a:solidFill>
              </a:rPr>
              <a:t>Backend  </a:t>
            </a:r>
            <a:pPr indent="0" marL="0">
              <a:buNone/>
            </a:pPr>
            <a:r>
              <a:rPr lang="en-US" sz="1300" dirty="0">
                <a:solidFill>
                  <a:schemeClr val="tx2"/>
                </a:solidFill>
              </a:rPr>
              <a:t>Python 3.12 · FastAPI · background worker · orchestrator (state machine)</a:t>
            </a:r>
            <a:endParaRPr lang="en-US" sz="1300" dirty="0"/>
          </a:p>
        </p:txBody>
      </p:sp>
      <p:sp>
        <p:nvSpPr>
          <p:cNvPr id="11" name="Shape 8"/>
          <p:cNvSpPr/>
          <p:nvPr/>
        </p:nvSpPr>
        <p:spPr>
          <a:xfrm>
            <a:off x="8366760" y="2322576"/>
            <a:ext cx="146304" cy="146304"/>
          </a:xfrm>
          <a:prstGeom prst="rect">
            <a:avLst/>
          </a:prstGeom>
          <a:solidFill>
            <a:srgbClr val="E6F0F8"/>
          </a:solidFill>
          <a:ln w="12700">
            <a:solidFill>
              <a:srgbClr val="8FB6D6"/>
            </a:solidFill>
            <a:prstDash val="solid"/>
          </a:ln>
        </p:spPr>
      </p:sp>
      <p:sp>
        <p:nvSpPr>
          <p:cNvPr id="12" name="Shape 9"/>
          <p:cNvSpPr/>
          <p:nvPr/>
        </p:nvSpPr>
        <p:spPr>
          <a:xfrm>
            <a:off x="9464040" y="2322576"/>
            <a:ext cx="146304" cy="146304"/>
          </a:xfrm>
          <a:prstGeom prst="rect">
            <a:avLst/>
          </a:prstGeom>
          <a:solidFill>
            <a:srgbClr val="E8F3E9"/>
          </a:solidFill>
          <a:ln w="12700">
            <a:solidFill>
              <a:srgbClr val="9CC79F"/>
            </a:solidFill>
            <a:prstDash val="solid"/>
          </a:ln>
        </p:spPr>
      </p:sp>
      <p:sp>
        <p:nvSpPr>
          <p:cNvPr id="13" name="Shape 10"/>
          <p:cNvSpPr/>
          <p:nvPr/>
        </p:nvSpPr>
        <p:spPr>
          <a:xfrm>
            <a:off x="10561320" y="2322576"/>
            <a:ext cx="146304" cy="146304"/>
          </a:xfrm>
          <a:prstGeom prst="rect">
            <a:avLst/>
          </a:prstGeom>
          <a:solidFill>
            <a:srgbClr val="EFEAF8"/>
          </a:solidFill>
          <a:ln w="12700">
            <a:solidFill>
              <a:srgbClr val="B9A6E2"/>
            </a:solidFill>
            <a:prstDash val="solid"/>
          </a:ln>
        </p:spPr>
      </p:sp>
      <p:sp>
        <p:nvSpPr>
          <p:cNvPr id="14" name="Text 11"/>
          <p:cNvSpPr txBox="1"/>
          <p:nvPr/>
        </p:nvSpPr>
        <p:spPr>
          <a:xfrm>
            <a:off x="8567928" y="2258568"/>
            <a:ext cx="868680" cy="274320"/>
          </a:xfrm>
          <a:prstGeom prst="rect">
            <a:avLst/>
          </a:prstGeom>
          <a:noFill/>
          <a:ln/>
        </p:spPr>
        <p:txBody>
          <a:bodyPr wrap="square" lIns="0" tIns="0" rIns="0" bIns="0" rtlCol="0" anchor="ctr"/>
          <a:lstStyle/>
          <a:p>
            <a:pPr indent="0" marL="0">
              <a:buNone/>
            </a:pPr>
            <a:r>
              <a:rPr lang="en-US" sz="1000" dirty="0">
                <a:solidFill>
                  <a:schemeClr val="tx2"/>
                </a:solidFill>
              </a:rPr>
              <a:t>Claude LLM</a:t>
            </a:r>
            <a:endParaRPr lang="en-US" sz="1000" dirty="0"/>
          </a:p>
        </p:txBody>
      </p:sp>
      <p:sp>
        <p:nvSpPr>
          <p:cNvPr id="15" name="Text 12"/>
          <p:cNvSpPr txBox="1"/>
          <p:nvPr/>
        </p:nvSpPr>
        <p:spPr>
          <a:xfrm>
            <a:off x="9665208" y="2258568"/>
            <a:ext cx="868680" cy="274320"/>
          </a:xfrm>
          <a:prstGeom prst="rect">
            <a:avLst/>
          </a:prstGeom>
          <a:noFill/>
          <a:ln/>
        </p:spPr>
        <p:txBody>
          <a:bodyPr wrap="square" lIns="0" tIns="0" rIns="0" bIns="0" rtlCol="0" anchor="ctr"/>
          <a:lstStyle/>
          <a:p>
            <a:pPr indent="0" marL="0">
              <a:buNone/>
            </a:pPr>
            <a:r>
              <a:rPr lang="en-US" sz="1000" dirty="0">
                <a:solidFill>
                  <a:schemeClr val="tx2"/>
                </a:solidFill>
              </a:rPr>
              <a:t>no AI, free</a:t>
            </a:r>
            <a:endParaRPr lang="en-US" sz="1000" dirty="0"/>
          </a:p>
        </p:txBody>
      </p:sp>
      <p:sp>
        <p:nvSpPr>
          <p:cNvPr id="16" name="Text 13"/>
          <p:cNvSpPr txBox="1"/>
          <p:nvPr/>
        </p:nvSpPr>
        <p:spPr>
          <a:xfrm>
            <a:off x="10762488" y="2258568"/>
            <a:ext cx="731520" cy="274320"/>
          </a:xfrm>
          <a:prstGeom prst="rect">
            <a:avLst/>
          </a:prstGeom>
          <a:noFill/>
          <a:ln/>
        </p:spPr>
        <p:txBody>
          <a:bodyPr wrap="square" lIns="0" tIns="0" rIns="0" bIns="0" rtlCol="0" anchor="ctr"/>
          <a:lstStyle/>
          <a:p>
            <a:pPr indent="0" marL="0">
              <a:buNone/>
            </a:pPr>
            <a:r>
              <a:rPr lang="en-US" sz="1000" dirty="0">
                <a:solidFill>
                  <a:schemeClr val="tx2"/>
                </a:solidFill>
              </a:rPr>
              <a:t>voice</a:t>
            </a:r>
            <a:endParaRPr lang="en-US" sz="1000" dirty="0"/>
          </a:p>
        </p:txBody>
      </p:sp>
      <p:sp>
        <p:nvSpPr>
          <p:cNvPr id="17" name="Shape 14"/>
          <p:cNvSpPr/>
          <p:nvPr/>
        </p:nvSpPr>
        <p:spPr>
          <a:xfrm>
            <a:off x="731520" y="2697480"/>
            <a:ext cx="1554480" cy="1097280"/>
          </a:xfrm>
          <a:prstGeom prst="roundRect">
            <a:avLst>
              <a:gd name="adj" fmla="val 6667"/>
            </a:avLst>
          </a:prstGeom>
          <a:solidFill>
            <a:srgbClr val="E6F0F8"/>
          </a:solidFill>
          <a:ln w="12700">
            <a:solidFill>
              <a:srgbClr val="8FB6D6"/>
            </a:solidFill>
            <a:prstDash val="solid"/>
          </a:ln>
        </p:spPr>
      </p:sp>
      <p:sp>
        <p:nvSpPr>
          <p:cNvPr id="18" name="Text 15"/>
          <p:cNvSpPr txBox="1"/>
          <p:nvPr/>
        </p:nvSpPr>
        <p:spPr>
          <a:xfrm>
            <a:off x="822960" y="2770632"/>
            <a:ext cx="1371600" cy="950976"/>
          </a:xfrm>
          <a:prstGeom prst="rect">
            <a:avLst/>
          </a:prstGeom>
          <a:noFill/>
          <a:ln/>
        </p:spPr>
        <p:txBody>
          <a:bodyPr wrap="square" lIns="0" tIns="0" rIns="0" bIns="0" rtlCol="0" anchor="ctr"/>
          <a:lstStyle/>
          <a:p>
            <a:pPr algn="ctr" indent="0" marL="0">
              <a:buNone/>
            </a:pPr>
            <a:r>
              <a:rPr lang="en-US" sz="1300" b="1" dirty="0">
                <a:solidFill>
                  <a:schemeClr val="tx1"/>
                </a:solidFill>
              </a:rPr>
              <a:t>1. Director</a:t>
            </a:r>
            <a:endParaRPr lang="en-US" sz="1400" dirty="0"/>
          </a:p>
          <a:p>
            <a:pPr algn="ctr" indent="0" marL="0">
              <a:buNone/>
            </a:pPr>
            <a:r>
              <a:rPr lang="en-US" sz="1100" dirty="0">
                <a:solidFill>
                  <a:schemeClr val="tx2"/>
                </a:solidFill>
              </a:rPr>
              <a:t>Claude Sonnet 5.5</a:t>
            </a:r>
            <a:endParaRPr lang="en-US" sz="1400" dirty="0"/>
          </a:p>
          <a:p>
            <a:pPr algn="ctr" indent="0" marL="0">
              <a:buNone/>
            </a:pPr>
            <a:r>
              <a:rPr lang="en-US" sz="1100" dirty="0">
                <a:solidFill>
                  <a:schemeClr val="tx2"/>
                </a:solidFill>
              </a:rPr>
              <a:t>plans scenes, narration → storyboard JSON</a:t>
            </a:r>
            <a:endParaRPr lang="en-US" sz="1400" dirty="0"/>
          </a:p>
        </p:txBody>
      </p:sp>
      <p:sp>
        <p:nvSpPr>
          <p:cNvPr id="19" name="Shape 16"/>
          <p:cNvSpPr/>
          <p:nvPr/>
        </p:nvSpPr>
        <p:spPr>
          <a:xfrm>
            <a:off x="2286000" y="3246120"/>
            <a:ext cx="279806" cy="0"/>
          </a:xfrm>
          <a:prstGeom prst="line">
            <a:avLst/>
          </a:prstGeom>
          <a:noFill/>
          <a:ln w="15875">
            <a:solidFill>
              <a:srgbClr val="6B7280"/>
            </a:solidFill>
            <a:prstDash val="solid"/>
            <a:tailEnd type="triangle"/>
          </a:ln>
        </p:spPr>
      </p:sp>
      <p:sp>
        <p:nvSpPr>
          <p:cNvPr id="20" name="Shape 17"/>
          <p:cNvSpPr/>
          <p:nvPr/>
        </p:nvSpPr>
        <p:spPr>
          <a:xfrm>
            <a:off x="2565806" y="2697480"/>
            <a:ext cx="1554480" cy="1097280"/>
          </a:xfrm>
          <a:prstGeom prst="roundRect">
            <a:avLst>
              <a:gd name="adj" fmla="val 6667"/>
            </a:avLst>
          </a:prstGeom>
          <a:solidFill>
            <a:srgbClr val="E6F0F8"/>
          </a:solidFill>
          <a:ln w="12700">
            <a:solidFill>
              <a:srgbClr val="8FB6D6"/>
            </a:solidFill>
            <a:prstDash val="solid"/>
          </a:ln>
        </p:spPr>
      </p:sp>
      <p:sp>
        <p:nvSpPr>
          <p:cNvPr id="21" name="Text 18"/>
          <p:cNvSpPr txBox="1"/>
          <p:nvPr/>
        </p:nvSpPr>
        <p:spPr>
          <a:xfrm>
            <a:off x="2657246" y="2770632"/>
            <a:ext cx="1371600" cy="950976"/>
          </a:xfrm>
          <a:prstGeom prst="rect">
            <a:avLst/>
          </a:prstGeom>
          <a:noFill/>
          <a:ln/>
        </p:spPr>
        <p:txBody>
          <a:bodyPr wrap="square" lIns="0" tIns="0" rIns="0" bIns="0" rtlCol="0" anchor="ctr"/>
          <a:lstStyle/>
          <a:p>
            <a:pPr algn="ctr" indent="0" marL="0">
              <a:buNone/>
            </a:pPr>
            <a:r>
              <a:rPr lang="en-US" sz="1300" b="1" dirty="0">
                <a:solidFill>
                  <a:schemeClr val="tx1"/>
                </a:solidFill>
              </a:rPr>
              <a:t>2. Coder</a:t>
            </a:r>
            <a:endParaRPr lang="en-US" sz="1400" dirty="0"/>
          </a:p>
          <a:p>
            <a:pPr algn="ctr" indent="0" marL="0">
              <a:buNone/>
            </a:pPr>
            <a:r>
              <a:rPr lang="en-US" sz="1100" dirty="0">
                <a:solidFill>
                  <a:schemeClr val="tx2"/>
                </a:solidFill>
              </a:rPr>
              <a:t>Claude Sonnet 5.5</a:t>
            </a:r>
            <a:endParaRPr lang="en-US" sz="1400" dirty="0"/>
          </a:p>
          <a:p>
            <a:pPr algn="ctr" indent="0" marL="0">
              <a:buNone/>
            </a:pPr>
            <a:r>
              <a:rPr lang="en-US" sz="1100" dirty="0">
                <a:solidFill>
                  <a:schemeClr val="tx2"/>
                </a:solidFill>
              </a:rPr>
              <a:t>writes one Manim file per scene</a:t>
            </a:r>
            <a:endParaRPr lang="en-US" sz="1400" dirty="0"/>
          </a:p>
        </p:txBody>
      </p:sp>
      <p:sp>
        <p:nvSpPr>
          <p:cNvPr id="22" name="Shape 19"/>
          <p:cNvSpPr/>
          <p:nvPr/>
        </p:nvSpPr>
        <p:spPr>
          <a:xfrm>
            <a:off x="4120286" y="3246120"/>
            <a:ext cx="279806" cy="0"/>
          </a:xfrm>
          <a:prstGeom prst="line">
            <a:avLst/>
          </a:prstGeom>
          <a:noFill/>
          <a:ln w="15875">
            <a:solidFill>
              <a:srgbClr val="6B7280"/>
            </a:solidFill>
            <a:prstDash val="solid"/>
            <a:tailEnd type="triangle"/>
          </a:ln>
        </p:spPr>
      </p:sp>
      <p:sp>
        <p:nvSpPr>
          <p:cNvPr id="23" name="Shape 20"/>
          <p:cNvSpPr/>
          <p:nvPr/>
        </p:nvSpPr>
        <p:spPr>
          <a:xfrm>
            <a:off x="4400093" y="2697480"/>
            <a:ext cx="1554480" cy="1097280"/>
          </a:xfrm>
          <a:prstGeom prst="roundRect">
            <a:avLst>
              <a:gd name="adj" fmla="val 6667"/>
            </a:avLst>
          </a:prstGeom>
          <a:solidFill>
            <a:srgbClr val="E8F3E9"/>
          </a:solidFill>
          <a:ln w="12700">
            <a:solidFill>
              <a:srgbClr val="9CC79F"/>
            </a:solidFill>
            <a:prstDash val="solid"/>
          </a:ln>
        </p:spPr>
      </p:sp>
      <p:sp>
        <p:nvSpPr>
          <p:cNvPr id="24" name="Text 21"/>
          <p:cNvSpPr txBox="1"/>
          <p:nvPr/>
        </p:nvSpPr>
        <p:spPr>
          <a:xfrm>
            <a:off x="4491533" y="2770632"/>
            <a:ext cx="1371600" cy="950976"/>
          </a:xfrm>
          <a:prstGeom prst="rect">
            <a:avLst/>
          </a:prstGeom>
          <a:noFill/>
          <a:ln/>
        </p:spPr>
        <p:txBody>
          <a:bodyPr wrap="square" lIns="0" tIns="0" rIns="0" bIns="0" rtlCol="0" anchor="ctr"/>
          <a:lstStyle/>
          <a:p>
            <a:pPr algn="ctr" indent="0" marL="0">
              <a:buNone/>
            </a:pPr>
            <a:r>
              <a:rPr lang="en-US" sz="1300" b="1" dirty="0">
                <a:solidFill>
                  <a:schemeClr val="tx1"/>
                </a:solidFill>
              </a:rPr>
              <a:t>3. Validator</a:t>
            </a:r>
            <a:endParaRPr lang="en-US" sz="1400" dirty="0"/>
          </a:p>
          <a:p>
            <a:pPr algn="ctr" indent="0" marL="0">
              <a:buNone/>
            </a:pPr>
            <a:r>
              <a:rPr lang="en-US" sz="1100" dirty="0">
                <a:solidFill>
                  <a:schemeClr val="tx2"/>
                </a:solidFill>
              </a:rPr>
              <a:t>AST checks, API names, LaTeX pre-compile</a:t>
            </a:r>
            <a:endParaRPr lang="en-US" sz="1400" dirty="0"/>
          </a:p>
        </p:txBody>
      </p:sp>
      <p:sp>
        <p:nvSpPr>
          <p:cNvPr id="25" name="Shape 22"/>
          <p:cNvSpPr/>
          <p:nvPr/>
        </p:nvSpPr>
        <p:spPr>
          <a:xfrm>
            <a:off x="5954573" y="3246120"/>
            <a:ext cx="279806" cy="0"/>
          </a:xfrm>
          <a:prstGeom prst="line">
            <a:avLst/>
          </a:prstGeom>
          <a:noFill/>
          <a:ln w="15875">
            <a:solidFill>
              <a:srgbClr val="6B7280"/>
            </a:solidFill>
            <a:prstDash val="solid"/>
            <a:tailEnd type="triangle"/>
          </a:ln>
        </p:spPr>
      </p:sp>
      <p:sp>
        <p:nvSpPr>
          <p:cNvPr id="26" name="Shape 23"/>
          <p:cNvSpPr/>
          <p:nvPr/>
        </p:nvSpPr>
        <p:spPr>
          <a:xfrm>
            <a:off x="6234379" y="2697480"/>
            <a:ext cx="1554480" cy="1097280"/>
          </a:xfrm>
          <a:prstGeom prst="roundRect">
            <a:avLst>
              <a:gd name="adj" fmla="val 6667"/>
            </a:avLst>
          </a:prstGeom>
          <a:solidFill>
            <a:srgbClr val="E8F3E9"/>
          </a:solidFill>
          <a:ln w="12700">
            <a:solidFill>
              <a:srgbClr val="9CC79F"/>
            </a:solidFill>
            <a:prstDash val="solid"/>
          </a:ln>
        </p:spPr>
      </p:sp>
      <p:sp>
        <p:nvSpPr>
          <p:cNvPr id="27" name="Text 24"/>
          <p:cNvSpPr txBox="1"/>
          <p:nvPr/>
        </p:nvSpPr>
        <p:spPr>
          <a:xfrm>
            <a:off x="6325819" y="2770632"/>
            <a:ext cx="1371600" cy="950976"/>
          </a:xfrm>
          <a:prstGeom prst="rect">
            <a:avLst/>
          </a:prstGeom>
          <a:noFill/>
          <a:ln/>
        </p:spPr>
        <p:txBody>
          <a:bodyPr wrap="square" lIns="0" tIns="0" rIns="0" bIns="0" rtlCol="0" anchor="ctr"/>
          <a:lstStyle/>
          <a:p>
            <a:pPr algn="ctr" indent="0" marL="0">
              <a:buNone/>
            </a:pPr>
            <a:r>
              <a:rPr lang="en-US" sz="1300" b="1" dirty="0">
                <a:solidFill>
                  <a:schemeClr val="tx1"/>
                </a:solidFill>
              </a:rPr>
              <a:t>4. Renderer</a:t>
            </a:r>
            <a:endParaRPr lang="en-US" sz="1400" dirty="0"/>
          </a:p>
          <a:p>
            <a:pPr algn="ctr" indent="0" marL="0">
              <a:buNone/>
            </a:pPr>
            <a:r>
              <a:rPr lang="en-US" sz="1100" dirty="0">
                <a:solidFill>
                  <a:schemeClr val="tx2"/>
                </a:solidFill>
              </a:rPr>
              <a:t>Manim CE + LaTeX preview + layout check</a:t>
            </a:r>
            <a:endParaRPr lang="en-US" sz="1400" dirty="0"/>
          </a:p>
        </p:txBody>
      </p:sp>
      <p:sp>
        <p:nvSpPr>
          <p:cNvPr id="28" name="Shape 25"/>
          <p:cNvSpPr/>
          <p:nvPr/>
        </p:nvSpPr>
        <p:spPr>
          <a:xfrm>
            <a:off x="7788859" y="3246120"/>
            <a:ext cx="279806" cy="0"/>
          </a:xfrm>
          <a:prstGeom prst="line">
            <a:avLst/>
          </a:prstGeom>
          <a:noFill/>
          <a:ln w="15875">
            <a:solidFill>
              <a:srgbClr val="6B7280"/>
            </a:solidFill>
            <a:prstDash val="solid"/>
            <a:tailEnd type="triangle"/>
          </a:ln>
        </p:spPr>
      </p:sp>
      <p:sp>
        <p:nvSpPr>
          <p:cNvPr id="29" name="Shape 26"/>
          <p:cNvSpPr/>
          <p:nvPr/>
        </p:nvSpPr>
        <p:spPr>
          <a:xfrm>
            <a:off x="8068666" y="2697480"/>
            <a:ext cx="1554480" cy="1097280"/>
          </a:xfrm>
          <a:prstGeom prst="roundRect">
            <a:avLst>
              <a:gd name="adj" fmla="val 6667"/>
            </a:avLst>
          </a:prstGeom>
          <a:solidFill>
            <a:srgbClr val="EFEAF8"/>
          </a:solidFill>
          <a:ln w="12700">
            <a:solidFill>
              <a:srgbClr val="B9A6E2"/>
            </a:solidFill>
            <a:prstDash val="solid"/>
          </a:ln>
        </p:spPr>
      </p:sp>
      <p:sp>
        <p:nvSpPr>
          <p:cNvPr id="30" name="Text 27"/>
          <p:cNvSpPr txBox="1"/>
          <p:nvPr/>
        </p:nvSpPr>
        <p:spPr>
          <a:xfrm>
            <a:off x="8160106" y="2770632"/>
            <a:ext cx="1371600" cy="950976"/>
          </a:xfrm>
          <a:prstGeom prst="rect">
            <a:avLst/>
          </a:prstGeom>
          <a:noFill/>
          <a:ln/>
        </p:spPr>
        <p:txBody>
          <a:bodyPr wrap="square" lIns="0" tIns="0" rIns="0" bIns="0" rtlCol="0" anchor="ctr"/>
          <a:lstStyle/>
          <a:p>
            <a:pPr algn="ctr" indent="0" marL="0">
              <a:buNone/>
            </a:pPr>
            <a:r>
              <a:rPr lang="en-US" sz="1300" b="1" dirty="0">
                <a:solidFill>
                  <a:schemeClr val="tx1"/>
                </a:solidFill>
              </a:rPr>
              <a:t>5. Narration</a:t>
            </a:r>
            <a:endParaRPr lang="en-US" sz="1400" dirty="0"/>
          </a:p>
          <a:p>
            <a:pPr algn="ctr" indent="0" marL="0">
              <a:buNone/>
            </a:pPr>
            <a:r>
              <a:rPr lang="en-US" sz="1100" dirty="0">
                <a:solidFill>
                  <a:schemeClr val="tx2"/>
                </a:solidFill>
              </a:rPr>
              <a:t>Deepgram Flux TTS, one voice session</a:t>
            </a:r>
            <a:endParaRPr lang="en-US" sz="1400" dirty="0"/>
          </a:p>
        </p:txBody>
      </p:sp>
      <p:sp>
        <p:nvSpPr>
          <p:cNvPr id="31" name="Shape 28"/>
          <p:cNvSpPr/>
          <p:nvPr/>
        </p:nvSpPr>
        <p:spPr>
          <a:xfrm>
            <a:off x="9623146" y="3246120"/>
            <a:ext cx="279806" cy="0"/>
          </a:xfrm>
          <a:prstGeom prst="line">
            <a:avLst/>
          </a:prstGeom>
          <a:noFill/>
          <a:ln w="15875">
            <a:solidFill>
              <a:srgbClr val="6B7280"/>
            </a:solidFill>
            <a:prstDash val="solid"/>
            <a:tailEnd type="triangle"/>
          </a:ln>
        </p:spPr>
      </p:sp>
      <p:sp>
        <p:nvSpPr>
          <p:cNvPr id="32" name="Shape 29"/>
          <p:cNvSpPr/>
          <p:nvPr/>
        </p:nvSpPr>
        <p:spPr>
          <a:xfrm>
            <a:off x="9902952" y="2697480"/>
            <a:ext cx="1554480" cy="1097280"/>
          </a:xfrm>
          <a:prstGeom prst="roundRect">
            <a:avLst>
              <a:gd name="adj" fmla="val 6667"/>
            </a:avLst>
          </a:prstGeom>
          <a:solidFill>
            <a:srgbClr val="E8F3E9"/>
          </a:solidFill>
          <a:ln w="12700">
            <a:solidFill>
              <a:srgbClr val="9CC79F"/>
            </a:solidFill>
            <a:prstDash val="solid"/>
          </a:ln>
        </p:spPr>
      </p:sp>
      <p:sp>
        <p:nvSpPr>
          <p:cNvPr id="33" name="Text 30"/>
          <p:cNvSpPr txBox="1"/>
          <p:nvPr/>
        </p:nvSpPr>
        <p:spPr>
          <a:xfrm>
            <a:off x="9994392" y="2770632"/>
            <a:ext cx="1371600" cy="950976"/>
          </a:xfrm>
          <a:prstGeom prst="rect">
            <a:avLst/>
          </a:prstGeom>
          <a:noFill/>
          <a:ln/>
        </p:spPr>
        <p:txBody>
          <a:bodyPr wrap="square" lIns="0" tIns="0" rIns="0" bIns="0" rtlCol="0" anchor="ctr"/>
          <a:lstStyle/>
          <a:p>
            <a:pPr algn="ctr" indent="0" marL="0">
              <a:buNone/>
            </a:pPr>
            <a:r>
              <a:rPr lang="en-US" sz="1300" b="1" dirty="0">
                <a:solidFill>
                  <a:schemeClr val="tx1"/>
                </a:solidFill>
              </a:rPr>
              <a:t>6. Assembler</a:t>
            </a:r>
            <a:endParaRPr lang="en-US" sz="1400" dirty="0"/>
          </a:p>
          <a:p>
            <a:pPr algn="ctr" indent="0" marL="0">
              <a:buNone/>
            </a:pPr>
            <a:r>
              <a:rPr lang="en-US" sz="1100" dirty="0">
                <a:solidFill>
                  <a:schemeClr val="tx2"/>
                </a:solidFill>
              </a:rPr>
              <a:t>ffmpeg: final narrated MP4</a:t>
            </a:r>
            <a:endParaRPr lang="en-US" sz="1400" dirty="0"/>
          </a:p>
        </p:txBody>
      </p:sp>
      <p:sp>
        <p:nvSpPr>
          <p:cNvPr id="34" name="Text 31"/>
          <p:cNvSpPr txBox="1"/>
          <p:nvPr/>
        </p:nvSpPr>
        <p:spPr>
          <a:xfrm>
            <a:off x="1737360" y="3840480"/>
            <a:ext cx="1828800" cy="228600"/>
          </a:xfrm>
          <a:prstGeom prst="rect">
            <a:avLst/>
          </a:prstGeom>
          <a:noFill/>
          <a:ln/>
        </p:spPr>
        <p:txBody>
          <a:bodyPr wrap="square" lIns="0" tIns="0" rIns="0" bIns="0" rtlCol="0" anchor="t"/>
          <a:lstStyle/>
          <a:p>
            <a:pPr algn="ctr" indent="0" marL="0">
              <a:buNone/>
            </a:pPr>
            <a:r>
              <a:rPr lang="en-US" sz="1000" i="1" dirty="0">
                <a:solidFill>
                  <a:schemeClr val="accent3"/>
                </a:solidFill>
              </a:rPr>
              <a:t>↑ you approve the storyboard</a:t>
            </a:r>
            <a:endParaRPr lang="en-US" sz="1000" dirty="0"/>
          </a:p>
        </p:txBody>
      </p:sp>
      <p:sp>
        <p:nvSpPr>
          <p:cNvPr id="35" name="Shape 32"/>
          <p:cNvSpPr/>
          <p:nvPr/>
        </p:nvSpPr>
        <p:spPr>
          <a:xfrm>
            <a:off x="4400093" y="4114800"/>
            <a:ext cx="3388766" cy="566928"/>
          </a:xfrm>
          <a:prstGeom prst="roundRect">
            <a:avLst>
              <a:gd name="adj" fmla="val 12903"/>
            </a:avLst>
          </a:prstGeom>
          <a:solidFill>
            <a:srgbClr val="E6F0F8"/>
          </a:solidFill>
          <a:ln w="12700">
            <a:solidFill>
              <a:srgbClr val="8FB6D6"/>
            </a:solidFill>
            <a:prstDash val="solid"/>
          </a:ln>
        </p:spPr>
      </p:sp>
      <p:sp>
        <p:nvSpPr>
          <p:cNvPr id="36" name="Text 33"/>
          <p:cNvSpPr txBox="1"/>
          <p:nvPr/>
        </p:nvSpPr>
        <p:spPr>
          <a:xfrm>
            <a:off x="4491533" y="4114800"/>
            <a:ext cx="3205886" cy="566928"/>
          </a:xfrm>
          <a:prstGeom prst="rect">
            <a:avLst/>
          </a:prstGeom>
          <a:noFill/>
          <a:ln/>
        </p:spPr>
        <p:txBody>
          <a:bodyPr wrap="square" lIns="0" tIns="0" rIns="0" bIns="0" rtlCol="0" anchor="ctr"/>
          <a:lstStyle/>
          <a:p>
            <a:pPr algn="ctr" indent="0" marL="0">
              <a:buNone/>
            </a:pPr>
            <a:r>
              <a:rPr lang="en-US" sz="1200" b="1" dirty="0">
                <a:solidFill>
                  <a:schemeClr val="tx1"/>
                </a:solidFill>
              </a:rPr>
              <a:t>Fixer  </a:t>
            </a:r>
            <a:pPr algn="ctr" indent="0" marL="0">
              <a:buNone/>
            </a:pPr>
            <a:r>
              <a:rPr lang="en-US" sz="1200" dirty="0">
                <a:solidFill>
                  <a:schemeClr val="tx2"/>
                </a:solidFill>
              </a:rPr>
              <a:t>Claude edits only the broken lines</a:t>
            </a:r>
            <a:endParaRPr lang="en-US" sz="1200" dirty="0"/>
          </a:p>
        </p:txBody>
      </p:sp>
      <p:sp>
        <p:nvSpPr>
          <p:cNvPr id="37" name="Shape 34"/>
          <p:cNvSpPr/>
          <p:nvPr/>
        </p:nvSpPr>
        <p:spPr>
          <a:xfrm>
            <a:off x="5405933" y="3794760"/>
            <a:ext cx="0" cy="320040"/>
          </a:xfrm>
          <a:prstGeom prst="line">
            <a:avLst/>
          </a:prstGeom>
          <a:noFill/>
          <a:ln w="15875">
            <a:solidFill>
              <a:srgbClr val="C2410C"/>
            </a:solidFill>
            <a:prstDash val="solid"/>
            <a:tailEnd type="triangle"/>
          </a:ln>
        </p:spPr>
      </p:sp>
      <p:sp>
        <p:nvSpPr>
          <p:cNvPr id="38" name="Shape 35"/>
          <p:cNvSpPr/>
          <p:nvPr/>
        </p:nvSpPr>
        <p:spPr>
          <a:xfrm>
            <a:off x="6783019" y="3794760"/>
            <a:ext cx="0" cy="320040"/>
          </a:xfrm>
          <a:prstGeom prst="line">
            <a:avLst/>
          </a:prstGeom>
          <a:noFill/>
          <a:ln w="15875">
            <a:solidFill>
              <a:srgbClr val="C2410C"/>
            </a:solidFill>
            <a:prstDash val="solid"/>
            <a:tailEnd type="triangle"/>
          </a:ln>
        </p:spPr>
      </p:sp>
      <p:sp>
        <p:nvSpPr>
          <p:cNvPr id="39" name="Shape 36"/>
          <p:cNvSpPr/>
          <p:nvPr/>
        </p:nvSpPr>
        <p:spPr>
          <a:xfrm flipV="1">
            <a:off x="4948733" y="3794760"/>
            <a:ext cx="0" cy="320040"/>
          </a:xfrm>
          <a:prstGeom prst="line">
            <a:avLst/>
          </a:prstGeom>
          <a:noFill/>
          <a:ln w="15875">
            <a:solidFill>
              <a:srgbClr val="6B7280"/>
            </a:solidFill>
            <a:prstDash val="dash"/>
            <a:tailEnd type="triangle"/>
          </a:ln>
        </p:spPr>
      </p:sp>
      <p:sp>
        <p:nvSpPr>
          <p:cNvPr id="40" name="Text 37"/>
          <p:cNvSpPr txBox="1"/>
          <p:nvPr/>
        </p:nvSpPr>
        <p:spPr>
          <a:xfrm>
            <a:off x="5469941" y="3858768"/>
            <a:ext cx="548640" cy="201168"/>
          </a:xfrm>
          <a:prstGeom prst="rect">
            <a:avLst/>
          </a:prstGeom>
          <a:noFill/>
          <a:ln/>
        </p:spPr>
        <p:txBody>
          <a:bodyPr wrap="square" lIns="0" tIns="0" rIns="0" bIns="0" rtlCol="0" anchor="t"/>
          <a:lstStyle/>
          <a:p>
            <a:pPr indent="0" marL="0">
              <a:buNone/>
            </a:pPr>
            <a:r>
              <a:rPr lang="en-US" sz="1000" i="1" dirty="0">
                <a:solidFill>
                  <a:schemeClr val="accent4"/>
                </a:solidFill>
              </a:rPr>
              <a:t>error</a:t>
            </a:r>
            <a:endParaRPr lang="en-US" sz="1000" dirty="0"/>
          </a:p>
        </p:txBody>
      </p:sp>
      <p:sp>
        <p:nvSpPr>
          <p:cNvPr id="41" name="Text 38"/>
          <p:cNvSpPr txBox="1"/>
          <p:nvPr/>
        </p:nvSpPr>
        <p:spPr>
          <a:xfrm>
            <a:off x="6847027" y="3858768"/>
            <a:ext cx="548640" cy="201168"/>
          </a:xfrm>
          <a:prstGeom prst="rect">
            <a:avLst/>
          </a:prstGeom>
          <a:noFill/>
          <a:ln/>
        </p:spPr>
        <p:txBody>
          <a:bodyPr wrap="square" lIns="0" tIns="0" rIns="0" bIns="0" rtlCol="0" anchor="t"/>
          <a:lstStyle/>
          <a:p>
            <a:pPr indent="0" marL="0">
              <a:buNone/>
            </a:pPr>
            <a:r>
              <a:rPr lang="en-US" sz="1000" i="1" dirty="0">
                <a:solidFill>
                  <a:schemeClr val="accent4"/>
                </a:solidFill>
              </a:rPr>
              <a:t>error</a:t>
            </a:r>
            <a:endParaRPr lang="en-US" sz="1000" dirty="0"/>
          </a:p>
        </p:txBody>
      </p:sp>
      <p:sp>
        <p:nvSpPr>
          <p:cNvPr id="42" name="Text 39"/>
          <p:cNvSpPr txBox="1"/>
          <p:nvPr/>
        </p:nvSpPr>
        <p:spPr>
          <a:xfrm>
            <a:off x="3988613" y="3858768"/>
            <a:ext cx="896112" cy="201168"/>
          </a:xfrm>
          <a:prstGeom prst="rect">
            <a:avLst/>
          </a:prstGeom>
          <a:noFill/>
          <a:ln/>
        </p:spPr>
        <p:txBody>
          <a:bodyPr wrap="square" lIns="0" tIns="0" rIns="0" bIns="0" rtlCol="0" anchor="t"/>
          <a:lstStyle/>
          <a:p>
            <a:pPr algn="r" indent="0" marL="0">
              <a:buNone/>
            </a:pPr>
            <a:r>
              <a:rPr lang="en-US" sz="1000" i="1" dirty="0">
                <a:solidFill>
                  <a:schemeClr val="tx2"/>
                </a:solidFill>
              </a:rPr>
              <a:t>re-check</a:t>
            </a:r>
            <a:endParaRPr lang="en-US" sz="1000" dirty="0"/>
          </a:p>
        </p:txBody>
      </p:sp>
      <p:sp>
        <p:nvSpPr>
          <p:cNvPr id="43" name="Shape 40"/>
          <p:cNvSpPr/>
          <p:nvPr/>
        </p:nvSpPr>
        <p:spPr>
          <a:xfrm>
            <a:off x="548640" y="5029200"/>
            <a:ext cx="3514344" cy="1143000"/>
          </a:xfrm>
          <a:prstGeom prst="roundRect">
            <a:avLst>
              <a:gd name="adj" fmla="val 6400"/>
            </a:avLst>
          </a:prstGeom>
          <a:solidFill>
            <a:schemeClr val="bg2"/>
          </a:solidFill>
          <a:ln w="12700">
            <a:solidFill>
              <a:schemeClr val="bg2"/>
            </a:solidFill>
            <a:prstDash val="solid"/>
          </a:ln>
        </p:spPr>
      </p:sp>
      <p:sp>
        <p:nvSpPr>
          <p:cNvPr id="44" name="Text 41"/>
          <p:cNvSpPr txBox="1"/>
          <p:nvPr/>
        </p:nvSpPr>
        <p:spPr>
          <a:xfrm>
            <a:off x="731520" y="5102352"/>
            <a:ext cx="3148584" cy="1005840"/>
          </a:xfrm>
          <a:prstGeom prst="rect">
            <a:avLst/>
          </a:prstGeom>
          <a:noFill/>
          <a:ln/>
        </p:spPr>
        <p:txBody>
          <a:bodyPr wrap="square" lIns="0" tIns="0" rIns="0" bIns="0" rtlCol="0" anchor="ctr"/>
          <a:lstStyle/>
          <a:p>
            <a:pPr indent="0" marL="0">
              <a:buNone/>
            </a:pPr>
            <a:r>
              <a:rPr lang="en-US" sz="1400" b="1" dirty="0">
                <a:solidFill>
                  <a:schemeClr val="tx1"/>
                </a:solidFill>
              </a:rPr>
              <a:t>LLM layer</a:t>
            </a:r>
            <a:endParaRPr lang="en-US" sz="1400" dirty="0"/>
          </a:p>
          <a:p>
            <a:pPr indent="0" marL="0">
              <a:buNone/>
            </a:pPr>
            <a:r>
              <a:rPr lang="en-US" sz="1200" dirty="0">
                <a:solidFill>
                  <a:schemeClr val="tx2"/>
                </a:solidFill>
              </a:rPr>
              <a:t>Anthropic SDK · Sonnet 5.5 default, Opus 5.5 in quality mode · prompt caching · hard budget per video · cost log</a:t>
            </a:r>
            <a:endParaRPr lang="en-US" sz="1400" dirty="0"/>
          </a:p>
        </p:txBody>
      </p:sp>
      <p:sp>
        <p:nvSpPr>
          <p:cNvPr id="45" name="Shape 42"/>
          <p:cNvSpPr/>
          <p:nvPr/>
        </p:nvSpPr>
        <p:spPr>
          <a:xfrm>
            <a:off x="4337304" y="5029200"/>
            <a:ext cx="3514344" cy="1143000"/>
          </a:xfrm>
          <a:prstGeom prst="roundRect">
            <a:avLst>
              <a:gd name="adj" fmla="val 6400"/>
            </a:avLst>
          </a:prstGeom>
          <a:solidFill>
            <a:schemeClr val="bg2"/>
          </a:solidFill>
          <a:ln w="12700">
            <a:solidFill>
              <a:schemeClr val="bg2"/>
            </a:solidFill>
            <a:prstDash val="solid"/>
          </a:ln>
        </p:spPr>
      </p:sp>
      <p:sp>
        <p:nvSpPr>
          <p:cNvPr id="46" name="Text 43"/>
          <p:cNvSpPr txBox="1"/>
          <p:nvPr/>
        </p:nvSpPr>
        <p:spPr>
          <a:xfrm>
            <a:off x="4520184" y="5102352"/>
            <a:ext cx="3148584" cy="1005840"/>
          </a:xfrm>
          <a:prstGeom prst="rect">
            <a:avLst/>
          </a:prstGeom>
          <a:noFill/>
          <a:ln/>
        </p:spPr>
        <p:txBody>
          <a:bodyPr wrap="square" lIns="0" tIns="0" rIns="0" bIns="0" rtlCol="0" anchor="ctr"/>
          <a:lstStyle/>
          <a:p>
            <a:pPr indent="0" marL="0">
              <a:buNone/>
            </a:pPr>
            <a:r>
              <a:rPr lang="en-US" sz="1400" b="1" dirty="0">
                <a:solidFill>
                  <a:schemeClr val="tx1"/>
                </a:solidFill>
              </a:rPr>
              <a:t>Knowledge the AI codes against</a:t>
            </a:r>
            <a:endParaRPr lang="en-US" sz="1400" dirty="0"/>
          </a:p>
          <a:p>
            <a:pPr indent="0" marL="0">
              <a:buNone/>
            </a:pPr>
            <a:r>
              <a:rPr lang="en-US" sz="1200" dirty="0">
                <a:solidFill>
                  <a:schemeClr val="tx2"/>
                </a:solidFill>
              </a:rPr>
              <a:t>manim_kit: themes, layout zones, helpers · 18 tested cookbook scenes · error → fix knowledge base</a:t>
            </a:r>
            <a:endParaRPr lang="en-US" sz="1400" dirty="0"/>
          </a:p>
        </p:txBody>
      </p:sp>
      <p:sp>
        <p:nvSpPr>
          <p:cNvPr id="47" name="Shape 44"/>
          <p:cNvSpPr/>
          <p:nvPr/>
        </p:nvSpPr>
        <p:spPr>
          <a:xfrm>
            <a:off x="8125968" y="5029200"/>
            <a:ext cx="3514344" cy="1143000"/>
          </a:xfrm>
          <a:prstGeom prst="roundRect">
            <a:avLst>
              <a:gd name="adj" fmla="val 6400"/>
            </a:avLst>
          </a:prstGeom>
          <a:solidFill>
            <a:schemeClr val="bg2"/>
          </a:solidFill>
          <a:ln w="12700">
            <a:solidFill>
              <a:schemeClr val="bg2"/>
            </a:solidFill>
            <a:prstDash val="solid"/>
          </a:ln>
        </p:spPr>
      </p:sp>
      <p:sp>
        <p:nvSpPr>
          <p:cNvPr id="48" name="Text 45"/>
          <p:cNvSpPr txBox="1"/>
          <p:nvPr/>
        </p:nvSpPr>
        <p:spPr>
          <a:xfrm>
            <a:off x="8308848" y="5102352"/>
            <a:ext cx="3148584" cy="1005840"/>
          </a:xfrm>
          <a:prstGeom prst="rect">
            <a:avLst/>
          </a:prstGeom>
          <a:noFill/>
          <a:ln/>
        </p:spPr>
        <p:txBody>
          <a:bodyPr wrap="square" lIns="0" tIns="0" rIns="0" bIns="0" rtlCol="0" anchor="ctr"/>
          <a:lstStyle/>
          <a:p>
            <a:pPr indent="0" marL="0">
              <a:buNone/>
            </a:pPr>
            <a:r>
              <a:rPr lang="en-US" sz="1400" b="1" dirty="0">
                <a:solidFill>
                  <a:schemeClr val="tx1"/>
                </a:solidFill>
              </a:rPr>
              <a:t>Storage &amp; deploy</a:t>
            </a:r>
            <a:endParaRPr lang="en-US" sz="1400" dirty="0"/>
          </a:p>
          <a:p>
            <a:pPr indent="0" marL="0">
              <a:buNone/>
            </a:pPr>
            <a:r>
              <a:rPr lang="en-US" sz="1200" dirty="0">
                <a:solidFill>
                  <a:schemeClr val="tx2"/>
                </a:solidFill>
              </a:rPr>
              <a:t>Every step checkpointed in a project folder (resume never pays twice) · one Docker image: Manim, LaTeX, ffmpeg</a:t>
            </a:r>
            <a:endParaRPr lang="en-US" sz="1400" dirty="0"/>
          </a:p>
        </p:txBody>
      </p:sp>
      <p:sp>
        <p:nvSpPr>
          <p:cNvPr id="49"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What it makes today, and what comes next</a:t>
            </a:r>
            <a:endParaRPr lang="en-US" sz="3200" dirty="0"/>
          </a:p>
        </p:txBody>
      </p:sp>
      <p:pic>
        <p:nvPicPr>
          <p:cNvPr id="3" name="Sample frames" descr="/Users/dhup/Projects/manimation/docs/presentation/images/samples-2.png">    </p:cNvPr>
          <p:cNvPicPr>
            <a:picLocks noChangeAspect="1"/>
          </p:cNvPicPr>
          <p:nvPr/>
        </p:nvPicPr>
        <p:blipFill>
          <a:blip r:embed="rId1"/>
          <a:stretch>
            <a:fillRect/>
          </a:stretch>
        </p:blipFill>
        <p:spPr>
          <a:xfrm>
            <a:off x="962765" y="1234440"/>
            <a:ext cx="10235990" cy="2880360"/>
          </a:xfrm>
          <a:prstGeom prst="rect">
            <a:avLst/>
          </a:prstGeom>
        </p:spPr>
      </p:pic>
      <p:sp>
        <p:nvSpPr>
          <p:cNvPr id="4" name="Text 1"/>
          <p:cNvSpPr txBox="1"/>
          <p:nvPr/>
        </p:nvSpPr>
        <p:spPr>
          <a:xfrm>
            <a:off x="548640" y="4160520"/>
            <a:ext cx="11064240" cy="320040"/>
          </a:xfrm>
          <a:prstGeom prst="rect">
            <a:avLst/>
          </a:prstGeom>
          <a:noFill/>
          <a:ln/>
        </p:spPr>
        <p:txBody>
          <a:bodyPr wrap="square" lIns="0" tIns="0" rIns="0" bIns="0" rtlCol="0" anchor="t"/>
          <a:lstStyle/>
          <a:p>
            <a:pPr algn="ctr" indent="0" marL="0">
              <a:buNone/>
            </a:pPr>
            <a:r>
              <a:rPr lang="en-US" sz="1200" dirty="0">
                <a:solidFill>
                  <a:schemeClr val="tx2"/>
                </a:solidFill>
              </a:rPr>
              <a:t>Frames from scenes the system renders: algorithms, calculus, physics, geometry, linear algebra</a:t>
            </a:r>
            <a:endParaRPr lang="en-US" sz="1200" dirty="0"/>
          </a:p>
        </p:txBody>
      </p:sp>
      <p:sp>
        <p:nvSpPr>
          <p:cNvPr id="5" name="Text 2"/>
          <p:cNvSpPr txBox="1"/>
          <p:nvPr/>
        </p:nvSpPr>
        <p:spPr>
          <a:xfrm>
            <a:off x="548640" y="4617720"/>
            <a:ext cx="5303520" cy="365760"/>
          </a:xfrm>
          <a:prstGeom prst="rect">
            <a:avLst/>
          </a:prstGeom>
          <a:noFill/>
          <a:ln/>
        </p:spPr>
        <p:txBody>
          <a:bodyPr wrap="square" lIns="0" tIns="0" rIns="0" bIns="0" rtlCol="0" anchor="t"/>
          <a:lstStyle/>
          <a:p>
            <a:pPr indent="0" marL="0">
              <a:buNone/>
            </a:pPr>
            <a:r>
              <a:rPr lang="en-US" sz="1800" b="1" dirty="0">
                <a:solidFill>
                  <a:schemeClr val="accent2"/>
                </a:solidFill>
              </a:rPr>
              <a:t>Working today</a:t>
            </a:r>
            <a:endParaRPr lang="en-US" sz="1800" dirty="0"/>
          </a:p>
        </p:txBody>
      </p:sp>
      <p:sp>
        <p:nvSpPr>
          <p:cNvPr id="6" name="Text 3"/>
          <p:cNvSpPr txBox="1"/>
          <p:nvPr/>
        </p:nvSpPr>
        <p:spPr>
          <a:xfrm>
            <a:off x="548640" y="5029200"/>
            <a:ext cx="5303520" cy="12801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Full web app: create, review, live progress, request changes</a:t>
            </a:r>
            <a:endParaRPr lang="en-US" sz="1500" dirty="0"/>
          </a:p>
          <a:p>
            <a:pPr marL="342900" indent="-342900">
              <a:spcAft>
                <a:spcPts val="400"/>
              </a:spcAft>
              <a:buSzPct val="100000"/>
              <a:buChar char="•"/>
            </a:pPr>
            <a:r>
              <a:rPr lang="en-US" sz="1500" dirty="0">
                <a:solidFill>
                  <a:schemeClr val="tx1"/>
                </a:solidFill>
              </a:rPr>
              <a:t>Narrated video in four themes, plus the source code</a:t>
            </a:r>
            <a:endParaRPr lang="en-US" sz="1500" dirty="0"/>
          </a:p>
          <a:p>
            <a:pPr marL="342900" indent="-342900">
              <a:spcAft>
                <a:spcPts val="400"/>
              </a:spcAft>
              <a:buSzPct val="100000"/>
              <a:buChar char="•"/>
            </a:pPr>
            <a:r>
              <a:rPr lang="en-US" sz="1500" dirty="0">
                <a:solidFill>
                  <a:schemeClr val="tx1"/>
                </a:solidFill>
              </a:rPr>
              <a:t>Runs offline in demo mode and in one Docker container</a:t>
            </a:r>
            <a:endParaRPr lang="en-US" sz="1500" dirty="0"/>
          </a:p>
        </p:txBody>
      </p:sp>
      <p:sp>
        <p:nvSpPr>
          <p:cNvPr id="7" name="Text 4"/>
          <p:cNvSpPr txBox="1"/>
          <p:nvPr/>
        </p:nvSpPr>
        <p:spPr>
          <a:xfrm>
            <a:off x="6309360" y="4617720"/>
            <a:ext cx="5303520" cy="365760"/>
          </a:xfrm>
          <a:prstGeom prst="rect">
            <a:avLst/>
          </a:prstGeom>
          <a:noFill/>
          <a:ln/>
        </p:spPr>
        <p:txBody>
          <a:bodyPr wrap="square" lIns="0" tIns="0" rIns="0" bIns="0" rtlCol="0" anchor="t"/>
          <a:lstStyle/>
          <a:p>
            <a:pPr indent="0" marL="0">
              <a:buNone/>
            </a:pPr>
            <a:r>
              <a:rPr lang="en-US" sz="1800" b="1" dirty="0">
                <a:solidFill>
                  <a:schemeClr val="accent1"/>
                </a:solidFill>
              </a:rPr>
              <a:t>Next</a:t>
            </a:r>
            <a:endParaRPr lang="en-US" sz="1800" dirty="0"/>
          </a:p>
        </p:txBody>
      </p:sp>
      <p:sp>
        <p:nvSpPr>
          <p:cNvPr id="8" name="Text 5"/>
          <p:cNvSpPr txBox="1"/>
          <p:nvPr/>
        </p:nvSpPr>
        <p:spPr>
          <a:xfrm>
            <a:off x="6309360" y="5029200"/>
            <a:ext cx="5303520" cy="12801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Visual critic: an AI that reviews rendered frames</a:t>
            </a:r>
            <a:endParaRPr lang="en-US" sz="1500" dirty="0"/>
          </a:p>
          <a:p>
            <a:pPr marL="342900" indent="-342900">
              <a:spcAft>
                <a:spcPts val="400"/>
              </a:spcAft>
              <a:buSzPct val="100000"/>
              <a:buChar char="•"/>
            </a:pPr>
            <a:r>
              <a:rPr lang="en-US" sz="1500" dirty="0">
                <a:solidFill>
                  <a:schemeClr val="tx1"/>
                </a:solidFill>
              </a:rPr>
              <a:t>Larger evaluation on 15 math, physics and CS topics</a:t>
            </a:r>
            <a:endParaRPr lang="en-US" sz="1500" dirty="0"/>
          </a:p>
          <a:p>
            <a:pPr marL="342900" indent="-342900">
              <a:spcAft>
                <a:spcPts val="400"/>
              </a:spcAft>
              <a:buSzPct val="100000"/>
              <a:buChar char="•"/>
            </a:pPr>
            <a:r>
              <a:rPr lang="en-US" sz="1500" dirty="0">
                <a:solidFill>
                  <a:schemeClr val="tx1"/>
                </a:solidFill>
              </a:rPr>
              <a:t>Slide-clip mode for lecture slides; more voices and languages</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MANImation Light">
  <a:themeElements>
    <a:clrScheme name="MANImation Light">
      <a:dk1>
        <a:srgbClr val="1F2937"/>
      </a:dk1>
      <a:lt1>
        <a:srgbClr val="FFFFFF"/>
      </a:lt1>
      <a:dk2>
        <a:srgbClr val="4B5563"/>
      </a:dk2>
      <a:lt2>
        <a:srgbClr val="F3F4F6"/>
      </a:lt2>
      <a:accent1>
        <a:srgbClr val="1F6FA8"/>
      </a:accent1>
      <a:accent2>
        <a:srgbClr val="2E7D32"/>
      </a:accent2>
      <a:accent3>
        <a:srgbClr val="B7791F"/>
      </a:accent3>
      <a:accent4>
        <a:srgbClr val="C2410C"/>
      </a:accent4>
      <a:accent5>
        <a:srgbClr val="6B46C1"/>
      </a:accent5>
      <a:accent6>
        <a:srgbClr val="6B7280"/>
      </a:accent6>
      <a:hlink>
        <a:srgbClr val="1F6FA8"/>
      </a:hlink>
      <a:folHlink>
        <a:srgbClr val="6B46C1"/>
      </a:folHlink>
    </a:clrScheme>
    <a:fontScheme name="MANImation L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MANImation Studio</dc:title>
  <dc:subject>Multi-agent AI system for educational animations</dc:subject>
  <dc:creator>Dhup Thumbadiya</dc:creator>
  <cp:lastModifiedBy>Dhup Thumbadiya</cp:lastModifiedBy>
  <cp:revision>1</cp:revision>
  <dcterms:created xsi:type="dcterms:W3CDTF">2026-10-04T11:11:08Z</dcterms:created>
  <dcterms:modified xsi:type="dcterms:W3CDTF">2026-10-04T11:11:08Z</dcterms:modified>
</cp:coreProperties>
</file>